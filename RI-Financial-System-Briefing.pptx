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rot="-480000">
            <a:off x="5943600" y="-457200"/>
            <a:ext cx="4114800" cy="2011680"/>
          </a:xfrm>
          <a:prstGeom prst="rect">
            <a:avLst/>
          </a:prstGeom>
          <a:solidFill>
            <a:srgbClr val="2D6A4F">
              <a:alpha val="60000"/>
            </a:srgbClr>
          </a:solidFill>
          <a:ln/>
        </p:spPr>
      </p:sp>
      <p:sp>
        <p:nvSpPr>
          <p:cNvPr id="3" name="Shape 1"/>
          <p:cNvSpPr/>
          <p:nvPr/>
        </p:nvSpPr>
        <p:spPr>
          <a:xfrm rot="-300000">
            <a:off x="6583680" y="-274320"/>
            <a:ext cx="3657600" cy="1645920"/>
          </a:xfrm>
          <a:prstGeom prst="rect">
            <a:avLst/>
          </a:prstGeom>
          <a:solidFill>
            <a:srgbClr val="52B788">
              <a:alpha val="40000"/>
            </a:srgbClr>
          </a:solidFill>
          <a:ln/>
        </p:spPr>
      </p:sp>
      <p:sp>
        <p:nvSpPr>
          <p:cNvPr id="4" name="Shape 2"/>
          <p:cNvSpPr/>
          <p:nvPr/>
        </p:nvSpPr>
        <p:spPr>
          <a:xfrm rot="480000">
            <a:off x="-1371600" y="3474720"/>
            <a:ext cx="4114800" cy="2286000"/>
          </a:xfrm>
          <a:prstGeom prst="rect">
            <a:avLst/>
          </a:prstGeom>
          <a:solidFill>
            <a:srgbClr val="2D6A4F">
              <a:alpha val="60000"/>
            </a:srgbClr>
          </a:solidFill>
          <a:ln/>
        </p:spPr>
      </p:sp>
      <p:sp>
        <p:nvSpPr>
          <p:cNvPr id="5" name="Text 3"/>
          <p:cNvSpPr/>
          <p:nvPr/>
        </p:nvSpPr>
        <p:spPr>
          <a:xfrm>
            <a:off x="731520" y="914400"/>
            <a:ext cx="6858000" cy="201168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latin typeface="Georgia" pitchFamily="34" charset="0"/>
                <a:ea typeface="Georgia" pitchFamily="34" charset="-122"/>
                <a:cs typeface="Georgia" pitchFamily="34" charset="-120"/>
              </a:rPr>
              <a:t>Your Financial System,</a:t>
            </a:r>
            <a:endParaRPr lang="en-US" sz="3800" dirty="0"/>
          </a:p>
          <a:p>
            <a:pPr indent="0" marL="0">
              <a:lnSpc>
                <a:spcPct val="115000"/>
              </a:lnSpc>
              <a:buNone/>
            </a:pPr>
            <a:r>
              <a:rPr lang="en-US" sz="3800" b="1" dirty="0">
                <a:solidFill>
                  <a:srgbClr val="FFFFFF"/>
                </a:solidFill>
                <a:latin typeface="Georgia" pitchFamily="34" charset="0"/>
                <a:ea typeface="Georgia" pitchFamily="34" charset="-122"/>
                <a:cs typeface="Georgia" pitchFamily="34" charset="-120"/>
              </a:rPr>
              <a:t>Built for Renewal</a:t>
            </a:r>
            <a:endParaRPr lang="en-US" sz="3800" dirty="0"/>
          </a:p>
        </p:txBody>
      </p:sp>
      <p:sp>
        <p:nvSpPr>
          <p:cNvPr id="6" name="Text 4"/>
          <p:cNvSpPr/>
          <p:nvPr/>
        </p:nvSpPr>
        <p:spPr>
          <a:xfrm>
            <a:off x="731520" y="2926080"/>
            <a:ext cx="6400800" cy="457200"/>
          </a:xfrm>
          <a:prstGeom prst="rect">
            <a:avLst/>
          </a:prstGeom>
          <a:noFill/>
          <a:ln/>
        </p:spPr>
        <p:txBody>
          <a:bodyPr wrap="square" lIns="0" tIns="0" rIns="0" bIns="0" rtlCol="0" anchor="ctr"/>
          <a:lstStyle/>
          <a:p>
            <a:pPr indent="0" marL="0">
              <a:buNone/>
            </a:pPr>
            <a:r>
              <a:rPr lang="en-US" sz="1600" dirty="0">
                <a:solidFill>
                  <a:srgbClr val="95D5B2"/>
                </a:solidFill>
                <a:latin typeface="Calibri" pitchFamily="34" charset="0"/>
                <a:ea typeface="Calibri" pitchFamily="34" charset="-122"/>
                <a:cs typeface="Calibri" pitchFamily="34" charset="-120"/>
              </a:rPr>
              <a:t>A Purpose-Built Platform for Renewal Initiatives, Inc.</a:t>
            </a:r>
            <a:endParaRPr lang="en-US" sz="1600" dirty="0"/>
          </a:p>
        </p:txBody>
      </p:sp>
      <p:sp>
        <p:nvSpPr>
          <p:cNvPr id="7" name="Shape 5"/>
          <p:cNvSpPr/>
          <p:nvPr/>
        </p:nvSpPr>
        <p:spPr>
          <a:xfrm>
            <a:off x="731520" y="3566160"/>
            <a:ext cx="1828800" cy="36576"/>
          </a:xfrm>
          <a:prstGeom prst="rect">
            <a:avLst/>
          </a:prstGeom>
          <a:solidFill>
            <a:srgbClr val="52B788"/>
          </a:solidFill>
          <a:ln/>
        </p:spPr>
      </p:sp>
      <p:sp>
        <p:nvSpPr>
          <p:cNvPr id="8" name="Text 6"/>
          <p:cNvSpPr/>
          <p:nvPr/>
        </p:nvSpPr>
        <p:spPr>
          <a:xfrm>
            <a:off x="731520" y="3794760"/>
            <a:ext cx="5486400" cy="365760"/>
          </a:xfrm>
          <a:prstGeom prst="rect">
            <a:avLst/>
          </a:prstGeom>
          <a:noFill/>
          <a:ln/>
        </p:spPr>
        <p:txBody>
          <a:bodyPr wrap="square" lIns="0" tIns="0" rIns="0" bIns="0" rtlCol="0" anchor="ctr"/>
          <a:lstStyle/>
          <a:p>
            <a:pPr indent="0" marL="0">
              <a:buNone/>
            </a:pPr>
            <a:r>
              <a:rPr lang="en-US" sz="1300" dirty="0">
                <a:solidFill>
                  <a:srgbClr val="D4C5A9"/>
                </a:solidFill>
                <a:latin typeface="Calibri" pitchFamily="34" charset="0"/>
                <a:ea typeface="Calibri" pitchFamily="34" charset="-122"/>
                <a:cs typeface="Calibri" pitchFamily="34" charset="-120"/>
              </a:rPr>
              <a:t>Prepared for Heather Takle, Executive Director</a:t>
            </a:r>
            <a:endParaRPr lang="en-US" sz="1300" dirty="0"/>
          </a:p>
        </p:txBody>
      </p:sp>
      <p:sp>
        <p:nvSpPr>
          <p:cNvPr id="9" name="Text 7"/>
          <p:cNvSpPr/>
          <p:nvPr/>
        </p:nvSpPr>
        <p:spPr>
          <a:xfrm>
            <a:off x="731520" y="4160520"/>
            <a:ext cx="3657600" cy="320040"/>
          </a:xfrm>
          <a:prstGeom prst="rect">
            <a:avLst/>
          </a:prstGeom>
          <a:noFill/>
          <a:ln/>
        </p:spPr>
        <p:txBody>
          <a:bodyPr wrap="square" lIns="0" tIns="0" rIns="0" bIns="0" rtlCol="0" anchor="ctr"/>
          <a:lstStyle/>
          <a:p>
            <a:pPr indent="0" marL="0">
              <a:buNone/>
            </a:pPr>
            <a:r>
              <a:rPr lang="en-US" sz="1200" dirty="0">
                <a:solidFill>
                  <a:srgbClr val="636E72"/>
                </a:solidFill>
                <a:latin typeface="Calibri" pitchFamily="34" charset="0"/>
                <a:ea typeface="Calibri" pitchFamily="34" charset="-122"/>
                <a:cs typeface="Calibri" pitchFamily="34" charset="-120"/>
              </a:rPr>
              <a:t>February 2026</a:t>
            </a:r>
            <a:endParaRPr lang="en-US" sz="1200" dirty="0"/>
          </a:p>
        </p:txBody>
      </p:sp>
      <p:pic>
        <p:nvPicPr>
          <p:cNvPr id="10" name="Image 0" descr="preencoded.png">    </p:cNvPr>
          <p:cNvPicPr>
            <a:picLocks noChangeAspect="1"/>
          </p:cNvPicPr>
          <p:nvPr/>
        </p:nvPicPr>
        <p:blipFill>
          <a:blip r:embed="rId1"/>
          <a:stretch>
            <a:fillRect/>
          </a:stretch>
        </p:blipFill>
        <p:spPr>
          <a:xfrm>
            <a:off x="7589520" y="4206240"/>
            <a:ext cx="365760" cy="365760"/>
          </a:xfrm>
          <a:prstGeom prst="rect">
            <a:avLst/>
          </a:prstGeom>
        </p:spPr>
      </p:pic>
      <p:pic>
        <p:nvPicPr>
          <p:cNvPr id="11" name="Image 1" descr="preencoded.png">    </p:cNvPr>
          <p:cNvPicPr>
            <a:picLocks noChangeAspect="1"/>
          </p:cNvPicPr>
          <p:nvPr/>
        </p:nvPicPr>
        <p:blipFill>
          <a:blip r:embed="rId2"/>
          <a:stretch>
            <a:fillRect/>
          </a:stretch>
        </p:blipFill>
        <p:spPr>
          <a:xfrm>
            <a:off x="8092440" y="420624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DF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4332"/>
          </a:solidFill>
          <a:ln/>
        </p:spPr>
      </p:sp>
      <p:sp>
        <p:nvSpPr>
          <p:cNvPr id="3" name="Text 1"/>
          <p:cNvSpPr/>
          <p:nvPr/>
        </p:nvSpPr>
        <p:spPr>
          <a:xfrm>
            <a:off x="548640" y="320040"/>
            <a:ext cx="7315200" cy="594360"/>
          </a:xfrm>
          <a:prstGeom prst="rect">
            <a:avLst/>
          </a:prstGeom>
          <a:noFill/>
          <a:ln/>
        </p:spPr>
        <p:txBody>
          <a:bodyPr wrap="square" lIns="0" tIns="0" rIns="0" bIns="0" rtlCol="0" anchor="ctr"/>
          <a:lstStyle/>
          <a:p>
            <a:pPr indent="0" marL="0">
              <a:buNone/>
            </a:pPr>
            <a:r>
              <a:rPr lang="en-US" sz="3200" b="1" dirty="0">
                <a:solidFill>
                  <a:srgbClr val="1B4332"/>
                </a:solidFill>
                <a:latin typeface="Georgia" pitchFamily="34" charset="0"/>
                <a:ea typeface="Georgia" pitchFamily="34" charset="-122"/>
                <a:cs typeface="Georgia" pitchFamily="34" charset="-120"/>
              </a:rPr>
              <a:t>Why We Need This</a:t>
            </a:r>
            <a:endParaRPr lang="en-US" sz="3200" dirty="0"/>
          </a:p>
        </p:txBody>
      </p:sp>
      <p:sp>
        <p:nvSpPr>
          <p:cNvPr id="4" name="Text 2"/>
          <p:cNvSpPr/>
          <p:nvPr/>
        </p:nvSpPr>
        <p:spPr>
          <a:xfrm>
            <a:off x="548640" y="1005840"/>
            <a:ext cx="7772400" cy="457200"/>
          </a:xfrm>
          <a:prstGeom prst="rect">
            <a:avLst/>
          </a:prstGeom>
          <a:noFill/>
          <a:ln/>
        </p:spPr>
        <p:txBody>
          <a:bodyPr wrap="square" lIns="0" tIns="0" rIns="0" bIns="0" rtlCol="0" anchor="ctr"/>
          <a:lstStyle/>
          <a:p>
            <a:pPr indent="0" marL="0">
              <a:buNone/>
            </a:pPr>
            <a:r>
              <a:rPr lang="en-US" sz="1400" dirty="0">
                <a:solidFill>
                  <a:srgbClr val="636E72"/>
                </a:solidFill>
                <a:latin typeface="Calibri" pitchFamily="34" charset="0"/>
                <a:ea typeface="Calibri" pitchFamily="34" charset="-122"/>
                <a:cs typeface="Calibri" pitchFamily="34" charset="-120"/>
              </a:rPr>
              <a:t>QuickBooks Online was a great starting point, but Renewal Initiatives has outgrown it.</a:t>
            </a:r>
            <a:endParaRPr lang="en-US" sz="1400" dirty="0"/>
          </a:p>
        </p:txBody>
      </p:sp>
      <p:sp>
        <p:nvSpPr>
          <p:cNvPr id="5" name="Shape 3"/>
          <p:cNvSpPr/>
          <p:nvPr/>
        </p:nvSpPr>
        <p:spPr>
          <a:xfrm>
            <a:off x="548640" y="1737360"/>
            <a:ext cx="2468880" cy="2560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1325880" y="1965960"/>
            <a:ext cx="822960" cy="822960"/>
          </a:xfrm>
          <a:prstGeom prst="ellipse">
            <a:avLst/>
          </a:prstGeom>
          <a:solidFill>
            <a:srgbClr val="2D6A4F"/>
          </a:solidFill>
          <a:ln/>
        </p:spPr>
      </p:sp>
      <p:pic>
        <p:nvPicPr>
          <p:cNvPr id="7" name="Image 0" descr="preencoded.png">    </p:cNvPr>
          <p:cNvPicPr>
            <a:picLocks noChangeAspect="1"/>
          </p:cNvPicPr>
          <p:nvPr/>
        </p:nvPicPr>
        <p:blipFill>
          <a:blip r:embed="rId1"/>
          <a:stretch>
            <a:fillRect/>
          </a:stretch>
        </p:blipFill>
        <p:spPr>
          <a:xfrm>
            <a:off x="1508760" y="2148840"/>
            <a:ext cx="457200" cy="457200"/>
          </a:xfrm>
          <a:prstGeom prst="rect">
            <a:avLst/>
          </a:prstGeom>
        </p:spPr>
      </p:pic>
      <p:sp>
        <p:nvSpPr>
          <p:cNvPr id="8" name="Text 5"/>
          <p:cNvSpPr/>
          <p:nvPr/>
        </p:nvSpPr>
        <p:spPr>
          <a:xfrm>
            <a:off x="731520" y="2926080"/>
            <a:ext cx="2103120" cy="640080"/>
          </a:xfrm>
          <a:prstGeom prst="rect">
            <a:avLst/>
          </a:prstGeom>
          <a:noFill/>
          <a:ln/>
        </p:spPr>
        <p:txBody>
          <a:bodyPr wrap="square" lIns="0" tIns="0" rIns="0" bIns="0" rtlCol="0" anchor="ctr"/>
          <a:lstStyle/>
          <a:p>
            <a:pPr algn="ctr" indent="0" marL="0">
              <a:buNone/>
            </a:pPr>
            <a:r>
              <a:rPr lang="en-US" sz="1300" b="1" dirty="0">
                <a:solidFill>
                  <a:srgbClr val="2D3436"/>
                </a:solidFill>
                <a:latin typeface="Calibri" pitchFamily="34" charset="0"/>
                <a:ea typeface="Calibri" pitchFamily="34" charset="-122"/>
                <a:cs typeface="Calibri" pitchFamily="34" charset="-120"/>
              </a:rPr>
              <a:t>Fund Accounting</a:t>
            </a:r>
            <a:endParaRPr lang="en-US" sz="1300" dirty="0"/>
          </a:p>
          <a:p>
            <a:pPr algn="ctr" indent="0" marL="0">
              <a:buNone/>
            </a:pPr>
            <a:r>
              <a:rPr lang="en-US" sz="1300" b="1" dirty="0">
                <a:solidFill>
                  <a:srgbClr val="2D3436"/>
                </a:solidFill>
                <a:latin typeface="Calibri" pitchFamily="34" charset="0"/>
                <a:ea typeface="Calibri" pitchFamily="34" charset="-122"/>
                <a:cs typeface="Calibri" pitchFamily="34" charset="-120"/>
              </a:rPr>
              <a:t>Gaps</a:t>
            </a:r>
            <a:endParaRPr lang="en-US" sz="1300" dirty="0"/>
          </a:p>
        </p:txBody>
      </p:sp>
      <p:sp>
        <p:nvSpPr>
          <p:cNvPr id="9" name="Text 6"/>
          <p:cNvSpPr/>
          <p:nvPr/>
        </p:nvSpPr>
        <p:spPr>
          <a:xfrm>
            <a:off x="731520" y="3520440"/>
            <a:ext cx="2103120" cy="640080"/>
          </a:xfrm>
          <a:prstGeom prst="rect">
            <a:avLst/>
          </a:prstGeom>
          <a:noFill/>
          <a:ln/>
        </p:spPr>
        <p:txBody>
          <a:bodyPr wrap="square" lIns="0" tIns="0" rIns="0" bIns="0" rtlCol="0" anchor="ctr"/>
          <a:lstStyle/>
          <a:p>
            <a:pPr algn="ctr" indent="0" marL="0">
              <a:buNone/>
            </a:pPr>
            <a:r>
              <a:rPr lang="en-US" sz="1050" dirty="0">
                <a:solidFill>
                  <a:srgbClr val="636E72"/>
                </a:solidFill>
                <a:latin typeface="Calibri" pitchFamily="34" charset="0"/>
                <a:ea typeface="Calibri" pitchFamily="34" charset="-122"/>
                <a:cs typeface="Calibri" pitchFamily="34" charset="-120"/>
              </a:rPr>
              <a:t>QBO doesn't natively track restricted vs. unrestricted funds — critical for grants and compliance.</a:t>
            </a:r>
            <a:endParaRPr lang="en-US" sz="1050" dirty="0"/>
          </a:p>
        </p:txBody>
      </p:sp>
      <p:sp>
        <p:nvSpPr>
          <p:cNvPr id="10" name="Shape 7"/>
          <p:cNvSpPr/>
          <p:nvPr/>
        </p:nvSpPr>
        <p:spPr>
          <a:xfrm>
            <a:off x="3246120" y="1737360"/>
            <a:ext cx="2468880" cy="2560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1" name="Shape 8"/>
          <p:cNvSpPr/>
          <p:nvPr/>
        </p:nvSpPr>
        <p:spPr>
          <a:xfrm>
            <a:off x="4023360" y="1965960"/>
            <a:ext cx="822960" cy="822960"/>
          </a:xfrm>
          <a:prstGeom prst="ellipse">
            <a:avLst/>
          </a:prstGeom>
          <a:solidFill>
            <a:srgbClr val="2D6A4F"/>
          </a:solidFill>
          <a:ln/>
        </p:spPr>
      </p:sp>
      <p:pic>
        <p:nvPicPr>
          <p:cNvPr id="12" name="Image 1" descr="preencoded.png">    </p:cNvPr>
          <p:cNvPicPr>
            <a:picLocks noChangeAspect="1"/>
          </p:cNvPicPr>
          <p:nvPr/>
        </p:nvPicPr>
        <p:blipFill>
          <a:blip r:embed="rId2"/>
          <a:stretch>
            <a:fillRect/>
          </a:stretch>
        </p:blipFill>
        <p:spPr>
          <a:xfrm>
            <a:off x="4206240" y="2148840"/>
            <a:ext cx="457200" cy="457200"/>
          </a:xfrm>
          <a:prstGeom prst="rect">
            <a:avLst/>
          </a:prstGeom>
        </p:spPr>
      </p:pic>
      <p:sp>
        <p:nvSpPr>
          <p:cNvPr id="13" name="Text 9"/>
          <p:cNvSpPr/>
          <p:nvPr/>
        </p:nvSpPr>
        <p:spPr>
          <a:xfrm>
            <a:off x="3429000" y="2926080"/>
            <a:ext cx="2103120" cy="640080"/>
          </a:xfrm>
          <a:prstGeom prst="rect">
            <a:avLst/>
          </a:prstGeom>
          <a:noFill/>
          <a:ln/>
        </p:spPr>
        <p:txBody>
          <a:bodyPr wrap="square" lIns="0" tIns="0" rIns="0" bIns="0" rtlCol="0" anchor="ctr"/>
          <a:lstStyle/>
          <a:p>
            <a:pPr algn="ctr" indent="0" marL="0">
              <a:buNone/>
            </a:pPr>
            <a:r>
              <a:rPr lang="en-US" sz="1300" b="1" dirty="0">
                <a:solidFill>
                  <a:srgbClr val="2D3436"/>
                </a:solidFill>
                <a:latin typeface="Calibri" pitchFamily="34" charset="0"/>
                <a:ea typeface="Calibri" pitchFamily="34" charset="-122"/>
                <a:cs typeface="Calibri" pitchFamily="34" charset="-120"/>
              </a:rPr>
              <a:t>Manual</a:t>
            </a:r>
            <a:endParaRPr lang="en-US" sz="1300" dirty="0"/>
          </a:p>
          <a:p>
            <a:pPr algn="ctr" indent="0" marL="0">
              <a:buNone/>
            </a:pPr>
            <a:r>
              <a:rPr lang="en-US" sz="1300" b="1" dirty="0">
                <a:solidFill>
                  <a:srgbClr val="2D3436"/>
                </a:solidFill>
                <a:latin typeface="Calibri" pitchFamily="34" charset="0"/>
                <a:ea typeface="Calibri" pitchFamily="34" charset="-122"/>
                <a:cs typeface="Calibri" pitchFamily="34" charset="-120"/>
              </a:rPr>
              <a:t>Compliance</a:t>
            </a:r>
            <a:endParaRPr lang="en-US" sz="1300" dirty="0"/>
          </a:p>
        </p:txBody>
      </p:sp>
      <p:sp>
        <p:nvSpPr>
          <p:cNvPr id="14" name="Text 10"/>
          <p:cNvSpPr/>
          <p:nvPr/>
        </p:nvSpPr>
        <p:spPr>
          <a:xfrm>
            <a:off x="3429000" y="3520440"/>
            <a:ext cx="2103120" cy="640080"/>
          </a:xfrm>
          <a:prstGeom prst="rect">
            <a:avLst/>
          </a:prstGeom>
          <a:noFill/>
          <a:ln/>
        </p:spPr>
        <p:txBody>
          <a:bodyPr wrap="square" lIns="0" tIns="0" rIns="0" bIns="0" rtlCol="0" anchor="ctr"/>
          <a:lstStyle/>
          <a:p>
            <a:pPr algn="ctr" indent="0" marL="0">
              <a:buNone/>
            </a:pPr>
            <a:r>
              <a:rPr lang="en-US" sz="1050" dirty="0">
                <a:solidFill>
                  <a:srgbClr val="636E72"/>
                </a:solidFill>
                <a:latin typeface="Calibri" pitchFamily="34" charset="0"/>
                <a:ea typeface="Calibri" pitchFamily="34" charset="-122"/>
                <a:cs typeface="Calibri" pitchFamily="34" charset="-120"/>
              </a:rPr>
              <a:t>Form 990 reporting, MA AG filings, and the public support test require piecing data together by hand.</a:t>
            </a:r>
            <a:endParaRPr lang="en-US" sz="1050" dirty="0"/>
          </a:p>
        </p:txBody>
      </p:sp>
      <p:sp>
        <p:nvSpPr>
          <p:cNvPr id="15" name="Shape 11"/>
          <p:cNvSpPr/>
          <p:nvPr/>
        </p:nvSpPr>
        <p:spPr>
          <a:xfrm>
            <a:off x="5943600" y="1737360"/>
            <a:ext cx="2468880" cy="2560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6" name="Shape 12"/>
          <p:cNvSpPr/>
          <p:nvPr/>
        </p:nvSpPr>
        <p:spPr>
          <a:xfrm>
            <a:off x="6720840" y="1965960"/>
            <a:ext cx="822960" cy="822960"/>
          </a:xfrm>
          <a:prstGeom prst="ellipse">
            <a:avLst/>
          </a:prstGeom>
          <a:solidFill>
            <a:srgbClr val="2D6A4F"/>
          </a:solidFill>
          <a:ln/>
        </p:spPr>
      </p:sp>
      <p:pic>
        <p:nvPicPr>
          <p:cNvPr id="17" name="Image 2" descr="preencoded.png">    </p:cNvPr>
          <p:cNvPicPr>
            <a:picLocks noChangeAspect="1"/>
          </p:cNvPicPr>
          <p:nvPr/>
        </p:nvPicPr>
        <p:blipFill>
          <a:blip r:embed="rId3"/>
          <a:stretch>
            <a:fillRect/>
          </a:stretch>
        </p:blipFill>
        <p:spPr>
          <a:xfrm>
            <a:off x="6903720" y="2148840"/>
            <a:ext cx="457200" cy="457200"/>
          </a:xfrm>
          <a:prstGeom prst="rect">
            <a:avLst/>
          </a:prstGeom>
        </p:spPr>
      </p:pic>
      <p:sp>
        <p:nvSpPr>
          <p:cNvPr id="18" name="Text 13"/>
          <p:cNvSpPr/>
          <p:nvPr/>
        </p:nvSpPr>
        <p:spPr>
          <a:xfrm>
            <a:off x="6126480" y="2926080"/>
            <a:ext cx="2103120" cy="640080"/>
          </a:xfrm>
          <a:prstGeom prst="rect">
            <a:avLst/>
          </a:prstGeom>
          <a:noFill/>
          <a:ln/>
        </p:spPr>
        <p:txBody>
          <a:bodyPr wrap="square" lIns="0" tIns="0" rIns="0" bIns="0" rtlCol="0" anchor="ctr"/>
          <a:lstStyle/>
          <a:p>
            <a:pPr algn="ctr" indent="0" marL="0">
              <a:buNone/>
            </a:pPr>
            <a:r>
              <a:rPr lang="en-US" sz="1300" b="1" dirty="0">
                <a:solidFill>
                  <a:srgbClr val="2D3436"/>
                </a:solidFill>
                <a:latin typeface="Calibri" pitchFamily="34" charset="0"/>
                <a:ea typeface="Calibri" pitchFamily="34" charset="-122"/>
                <a:cs typeface="Calibri" pitchFamily="34" charset="-120"/>
              </a:rPr>
              <a:t>Disconnected</a:t>
            </a:r>
            <a:endParaRPr lang="en-US" sz="1300" dirty="0"/>
          </a:p>
          <a:p>
            <a:pPr algn="ctr" indent="0" marL="0">
              <a:buNone/>
            </a:pPr>
            <a:r>
              <a:rPr lang="en-US" sz="1300" b="1" dirty="0">
                <a:solidFill>
                  <a:srgbClr val="2D3436"/>
                </a:solidFill>
                <a:latin typeface="Calibri" pitchFamily="34" charset="0"/>
                <a:ea typeface="Calibri" pitchFamily="34" charset="-122"/>
                <a:cs typeface="Calibri" pitchFamily="34" charset="-120"/>
              </a:rPr>
              <a:t>Systems</a:t>
            </a:r>
            <a:endParaRPr lang="en-US" sz="1300" dirty="0"/>
          </a:p>
        </p:txBody>
      </p:sp>
      <p:sp>
        <p:nvSpPr>
          <p:cNvPr id="19" name="Text 14"/>
          <p:cNvSpPr/>
          <p:nvPr/>
        </p:nvSpPr>
        <p:spPr>
          <a:xfrm>
            <a:off x="6126480" y="3520440"/>
            <a:ext cx="2103120" cy="640080"/>
          </a:xfrm>
          <a:prstGeom prst="rect">
            <a:avLst/>
          </a:prstGeom>
          <a:noFill/>
          <a:ln/>
        </p:spPr>
        <p:txBody>
          <a:bodyPr wrap="square" lIns="0" tIns="0" rIns="0" bIns="0" rtlCol="0" anchor="ctr"/>
          <a:lstStyle/>
          <a:p>
            <a:pPr algn="ctr" indent="0" marL="0">
              <a:buNone/>
            </a:pPr>
            <a:r>
              <a:rPr lang="en-US" sz="1050" dirty="0">
                <a:solidFill>
                  <a:srgbClr val="636E72"/>
                </a:solidFill>
                <a:latin typeface="Calibri" pitchFamily="34" charset="0"/>
                <a:ea typeface="Calibri" pitchFamily="34" charset="-122"/>
                <a:cs typeface="Calibri" pitchFamily="34" charset="-120"/>
              </a:rPr>
              <a:t>Timesheets, expense reports, and credit card data live in separate apps with no automatic flow to the books.</a:t>
            </a:r>
            <a:endParaRPr lang="en-US" sz="1050" dirty="0"/>
          </a:p>
        </p:txBody>
      </p:sp>
      <p:sp>
        <p:nvSpPr>
          <p:cNvPr id="20" name="Shape 15"/>
          <p:cNvSpPr/>
          <p:nvPr/>
        </p:nvSpPr>
        <p:spPr>
          <a:xfrm>
            <a:off x="548640" y="4572000"/>
            <a:ext cx="8046720" cy="36576"/>
          </a:xfrm>
          <a:prstGeom prst="rect">
            <a:avLst/>
          </a:prstGeom>
          <a:solidFill>
            <a:srgbClr val="95D5B2"/>
          </a:solidFill>
          <a:ln/>
        </p:spPr>
      </p:sp>
      <p:sp>
        <p:nvSpPr>
          <p:cNvPr id="21" name="Text 16"/>
          <p:cNvSpPr/>
          <p:nvPr/>
        </p:nvSpPr>
        <p:spPr>
          <a:xfrm>
            <a:off x="548640" y="4663440"/>
            <a:ext cx="8046720" cy="365760"/>
          </a:xfrm>
          <a:prstGeom prst="rect">
            <a:avLst/>
          </a:prstGeom>
          <a:noFill/>
          <a:ln/>
        </p:spPr>
        <p:txBody>
          <a:bodyPr wrap="square" lIns="0" tIns="0" rIns="0" bIns="0" rtlCol="0" anchor="ctr"/>
          <a:lstStyle/>
          <a:p>
            <a:pPr indent="0" marL="0">
              <a:buNone/>
            </a:pPr>
            <a:r>
              <a:rPr lang="en-US" sz="1200" i="1" dirty="0">
                <a:solidFill>
                  <a:srgbClr val="2D6A4F"/>
                </a:solidFill>
                <a:latin typeface="Calibri" pitchFamily="34" charset="0"/>
                <a:ea typeface="Calibri" pitchFamily="34" charset="-122"/>
                <a:cs typeface="Calibri" pitchFamily="34" charset="-120"/>
              </a:rPr>
              <a:t>We’re building a system that works the way Renewal Initiatives actually works.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5943600" y="-2286000"/>
            <a:ext cx="5486400" cy="5486400"/>
          </a:xfrm>
          <a:prstGeom prst="ellipse">
            <a:avLst/>
          </a:prstGeom>
          <a:solidFill>
            <a:srgbClr val="2D6A4F">
              <a:alpha val="50000"/>
            </a:srgbClr>
          </a:solidFill>
          <a:ln/>
        </p:spPr>
      </p:sp>
      <p:sp>
        <p:nvSpPr>
          <p:cNvPr id="3" name="Text 1"/>
          <p:cNvSpPr/>
          <p:nvPr/>
        </p:nvSpPr>
        <p:spPr>
          <a:xfrm>
            <a:off x="731520" y="320040"/>
            <a:ext cx="7315200" cy="59436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What We’re Building</a:t>
            </a:r>
            <a:endParaRPr lang="en-US" sz="3200" dirty="0"/>
          </a:p>
        </p:txBody>
      </p:sp>
      <p:sp>
        <p:nvSpPr>
          <p:cNvPr id="4" name="Text 2"/>
          <p:cNvSpPr/>
          <p:nvPr/>
        </p:nvSpPr>
        <p:spPr>
          <a:xfrm>
            <a:off x="731520" y="1051560"/>
            <a:ext cx="6858000" cy="731520"/>
          </a:xfrm>
          <a:prstGeom prst="rect">
            <a:avLst/>
          </a:prstGeom>
          <a:noFill/>
          <a:ln/>
        </p:spPr>
        <p:txBody>
          <a:bodyPr wrap="square" lIns="0" tIns="0" rIns="0" bIns="0" rtlCol="0" anchor="ctr"/>
          <a:lstStyle/>
          <a:p>
            <a:pPr indent="0" marL="0">
              <a:buNone/>
            </a:pPr>
            <a:r>
              <a:rPr lang="en-US" sz="1400" dirty="0">
                <a:solidFill>
                  <a:srgbClr val="95D5B2"/>
                </a:solidFill>
                <a:latin typeface="Calibri" pitchFamily="34" charset="0"/>
                <a:ea typeface="Calibri" pitchFamily="34" charset="-122"/>
                <a:cs typeface="Calibri" pitchFamily="34" charset="-120"/>
              </a:rPr>
              <a:t>A custom financial management platform designed exclusively for Renewal Initiatives — not a generic tool, but personal software that goes 10x deeper on what you actually need.</a:t>
            </a:r>
            <a:endParaRPr lang="en-US" sz="1400" dirty="0"/>
          </a:p>
        </p:txBody>
      </p:sp>
      <p:sp>
        <p:nvSpPr>
          <p:cNvPr id="5" name="Shape 3"/>
          <p:cNvSpPr/>
          <p:nvPr/>
        </p:nvSpPr>
        <p:spPr>
          <a:xfrm>
            <a:off x="731520" y="2103120"/>
            <a:ext cx="1828800" cy="1554480"/>
          </a:xfrm>
          <a:prstGeom prst="rect">
            <a:avLst/>
          </a:prstGeom>
          <a:solidFill>
            <a:srgbClr val="FFFFFF">
              <a:alpha val="90000"/>
            </a:srgbClr>
          </a:solidFill>
          <a:ln/>
          <a:effectLst>
            <a:outerShdw sx="100000" sy="100000" kx="0" ky="0" algn="bl" rotWithShape="0" blurRad="50800" dist="25400" dir="8100000">
              <a:srgbClr val="000000">
                <a:alpha val="8000"/>
              </a:srgbClr>
            </a:outerShdw>
          </a:effectLst>
        </p:spPr>
      </p:sp>
      <p:sp>
        <p:nvSpPr>
          <p:cNvPr id="6" name="Shape 4"/>
          <p:cNvSpPr/>
          <p:nvPr/>
        </p:nvSpPr>
        <p:spPr>
          <a:xfrm>
            <a:off x="731520" y="2103120"/>
            <a:ext cx="1828800" cy="54864"/>
          </a:xfrm>
          <a:prstGeom prst="rect">
            <a:avLst/>
          </a:prstGeom>
          <a:solidFill>
            <a:srgbClr val="52B788"/>
          </a:solidFill>
          <a:ln/>
        </p:spPr>
      </p:sp>
      <p:pic>
        <p:nvPicPr>
          <p:cNvPr id="7" name="Image 0" descr="preencoded.png">    </p:cNvPr>
          <p:cNvPicPr>
            <a:picLocks noChangeAspect="1"/>
          </p:cNvPicPr>
          <p:nvPr/>
        </p:nvPicPr>
        <p:blipFill>
          <a:blip r:embed="rId1"/>
          <a:stretch>
            <a:fillRect/>
          </a:stretch>
        </p:blipFill>
        <p:spPr>
          <a:xfrm>
            <a:off x="1417320" y="2331720"/>
            <a:ext cx="457200" cy="457200"/>
          </a:xfrm>
          <a:prstGeom prst="rect">
            <a:avLst/>
          </a:prstGeom>
        </p:spPr>
      </p:pic>
      <p:sp>
        <p:nvSpPr>
          <p:cNvPr id="8" name="Text 5"/>
          <p:cNvSpPr/>
          <p:nvPr/>
        </p:nvSpPr>
        <p:spPr>
          <a:xfrm>
            <a:off x="822960" y="2880360"/>
            <a:ext cx="16459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GAAP-Compliant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Fund Accounting</a:t>
            </a:r>
            <a:endParaRPr lang="en-US" sz="1200" dirty="0"/>
          </a:p>
        </p:txBody>
      </p:sp>
      <p:sp>
        <p:nvSpPr>
          <p:cNvPr id="9" name="Shape 6"/>
          <p:cNvSpPr/>
          <p:nvPr/>
        </p:nvSpPr>
        <p:spPr>
          <a:xfrm>
            <a:off x="2862072" y="2103120"/>
            <a:ext cx="1828800" cy="1554480"/>
          </a:xfrm>
          <a:prstGeom prst="rect">
            <a:avLst/>
          </a:prstGeom>
          <a:solidFill>
            <a:srgbClr val="FFFFFF">
              <a:alpha val="90000"/>
            </a:srgbClr>
          </a:solidFill>
          <a:ln/>
          <a:effectLst>
            <a:outerShdw sx="100000" sy="100000" kx="0" ky="0" algn="bl" rotWithShape="0" blurRad="50800" dist="25400" dir="8100000">
              <a:srgbClr val="000000">
                <a:alpha val="8000"/>
              </a:srgbClr>
            </a:outerShdw>
          </a:effectLst>
        </p:spPr>
      </p:sp>
      <p:sp>
        <p:nvSpPr>
          <p:cNvPr id="10" name="Shape 7"/>
          <p:cNvSpPr/>
          <p:nvPr/>
        </p:nvSpPr>
        <p:spPr>
          <a:xfrm>
            <a:off x="2862072" y="2103120"/>
            <a:ext cx="1828800" cy="54864"/>
          </a:xfrm>
          <a:prstGeom prst="rect">
            <a:avLst/>
          </a:prstGeom>
          <a:solidFill>
            <a:srgbClr val="52B788"/>
          </a:solidFill>
          <a:ln/>
        </p:spPr>
      </p:sp>
      <p:pic>
        <p:nvPicPr>
          <p:cNvPr id="11" name="Image 1" descr="preencoded.png">    </p:cNvPr>
          <p:cNvPicPr>
            <a:picLocks noChangeAspect="1"/>
          </p:cNvPicPr>
          <p:nvPr/>
        </p:nvPicPr>
        <p:blipFill>
          <a:blip r:embed="rId2"/>
          <a:stretch>
            <a:fillRect/>
          </a:stretch>
        </p:blipFill>
        <p:spPr>
          <a:xfrm>
            <a:off x="3547872" y="2331720"/>
            <a:ext cx="457200" cy="457200"/>
          </a:xfrm>
          <a:prstGeom prst="rect">
            <a:avLst/>
          </a:prstGeom>
        </p:spPr>
      </p:pic>
      <p:sp>
        <p:nvSpPr>
          <p:cNvPr id="12" name="Text 8"/>
          <p:cNvSpPr/>
          <p:nvPr/>
        </p:nvSpPr>
        <p:spPr>
          <a:xfrm>
            <a:off x="2953512" y="2880360"/>
            <a:ext cx="16459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Automated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Compliance</a:t>
            </a:r>
            <a:endParaRPr lang="en-US" sz="1200" dirty="0"/>
          </a:p>
        </p:txBody>
      </p:sp>
      <p:sp>
        <p:nvSpPr>
          <p:cNvPr id="13" name="Shape 9"/>
          <p:cNvSpPr/>
          <p:nvPr/>
        </p:nvSpPr>
        <p:spPr>
          <a:xfrm>
            <a:off x="4992624" y="2103120"/>
            <a:ext cx="1828800" cy="1554480"/>
          </a:xfrm>
          <a:prstGeom prst="rect">
            <a:avLst/>
          </a:prstGeom>
          <a:solidFill>
            <a:srgbClr val="FFFFFF">
              <a:alpha val="90000"/>
            </a:srgbClr>
          </a:solidFill>
          <a:ln/>
          <a:effectLst>
            <a:outerShdw sx="100000" sy="100000" kx="0" ky="0" algn="bl" rotWithShape="0" blurRad="50800" dist="25400" dir="8100000">
              <a:srgbClr val="000000">
                <a:alpha val="8000"/>
              </a:srgbClr>
            </a:outerShdw>
          </a:effectLst>
        </p:spPr>
      </p:sp>
      <p:sp>
        <p:nvSpPr>
          <p:cNvPr id="14" name="Shape 10"/>
          <p:cNvSpPr/>
          <p:nvPr/>
        </p:nvSpPr>
        <p:spPr>
          <a:xfrm>
            <a:off x="4992624" y="2103120"/>
            <a:ext cx="1828800" cy="54864"/>
          </a:xfrm>
          <a:prstGeom prst="rect">
            <a:avLst/>
          </a:prstGeom>
          <a:solidFill>
            <a:srgbClr val="52B788"/>
          </a:solidFill>
          <a:ln/>
        </p:spPr>
      </p:sp>
      <p:pic>
        <p:nvPicPr>
          <p:cNvPr id="15" name="Image 2" descr="preencoded.png">    </p:cNvPr>
          <p:cNvPicPr>
            <a:picLocks noChangeAspect="1"/>
          </p:cNvPicPr>
          <p:nvPr/>
        </p:nvPicPr>
        <p:blipFill>
          <a:blip r:embed="rId3"/>
          <a:stretch>
            <a:fillRect/>
          </a:stretch>
        </p:blipFill>
        <p:spPr>
          <a:xfrm>
            <a:off x="5678424" y="2331720"/>
            <a:ext cx="457200" cy="457200"/>
          </a:xfrm>
          <a:prstGeom prst="rect">
            <a:avLst/>
          </a:prstGeom>
        </p:spPr>
      </p:pic>
      <p:sp>
        <p:nvSpPr>
          <p:cNvPr id="16" name="Text 11"/>
          <p:cNvSpPr/>
          <p:nvPr/>
        </p:nvSpPr>
        <p:spPr>
          <a:xfrm>
            <a:off x="5084064" y="2880360"/>
            <a:ext cx="16459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29 Built-In</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Reports</a:t>
            </a:r>
            <a:endParaRPr lang="en-US" sz="1200" dirty="0"/>
          </a:p>
        </p:txBody>
      </p:sp>
      <p:sp>
        <p:nvSpPr>
          <p:cNvPr id="17" name="Shape 12"/>
          <p:cNvSpPr/>
          <p:nvPr/>
        </p:nvSpPr>
        <p:spPr>
          <a:xfrm>
            <a:off x="7123176" y="2103120"/>
            <a:ext cx="1828800" cy="1554480"/>
          </a:xfrm>
          <a:prstGeom prst="rect">
            <a:avLst/>
          </a:prstGeom>
          <a:solidFill>
            <a:srgbClr val="FFFFFF">
              <a:alpha val="90000"/>
            </a:srgbClr>
          </a:solidFill>
          <a:ln/>
          <a:effectLst>
            <a:outerShdw sx="100000" sy="100000" kx="0" ky="0" algn="bl" rotWithShape="0" blurRad="50800" dist="25400" dir="8100000">
              <a:srgbClr val="000000">
                <a:alpha val="8000"/>
              </a:srgbClr>
            </a:outerShdw>
          </a:effectLst>
        </p:spPr>
      </p:sp>
      <p:sp>
        <p:nvSpPr>
          <p:cNvPr id="18" name="Shape 13"/>
          <p:cNvSpPr/>
          <p:nvPr/>
        </p:nvSpPr>
        <p:spPr>
          <a:xfrm>
            <a:off x="7123176" y="2103120"/>
            <a:ext cx="1828800" cy="54864"/>
          </a:xfrm>
          <a:prstGeom prst="rect">
            <a:avLst/>
          </a:prstGeom>
          <a:solidFill>
            <a:srgbClr val="52B788"/>
          </a:solidFill>
          <a:ln/>
        </p:spPr>
      </p:sp>
      <p:pic>
        <p:nvPicPr>
          <p:cNvPr id="19" name="Image 3" descr="preencoded.png">    </p:cNvPr>
          <p:cNvPicPr>
            <a:picLocks noChangeAspect="1"/>
          </p:cNvPicPr>
          <p:nvPr/>
        </p:nvPicPr>
        <p:blipFill>
          <a:blip r:embed="rId4"/>
          <a:stretch>
            <a:fillRect/>
          </a:stretch>
        </p:blipFill>
        <p:spPr>
          <a:xfrm>
            <a:off x="7808976" y="2331720"/>
            <a:ext cx="457200" cy="457200"/>
          </a:xfrm>
          <a:prstGeom prst="rect">
            <a:avLst/>
          </a:prstGeom>
        </p:spPr>
      </p:pic>
      <p:sp>
        <p:nvSpPr>
          <p:cNvPr id="20" name="Text 14"/>
          <p:cNvSpPr/>
          <p:nvPr/>
        </p:nvSpPr>
        <p:spPr>
          <a:xfrm>
            <a:off x="7214616" y="2880360"/>
            <a:ext cx="16459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AI-Powered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Copilot</a:t>
            </a:r>
            <a:endParaRPr lang="en-US" sz="1200" dirty="0"/>
          </a:p>
        </p:txBody>
      </p:sp>
      <p:sp>
        <p:nvSpPr>
          <p:cNvPr id="21" name="Text 15"/>
          <p:cNvSpPr/>
          <p:nvPr/>
        </p:nvSpPr>
        <p:spPr>
          <a:xfrm>
            <a:off x="731520" y="3931920"/>
            <a:ext cx="1828800" cy="548640"/>
          </a:xfrm>
          <a:prstGeom prst="rect">
            <a:avLst/>
          </a:prstGeom>
          <a:noFill/>
          <a:ln/>
        </p:spPr>
        <p:txBody>
          <a:bodyPr wrap="square" lIns="0" tIns="0" rIns="0" bIns="0" rtlCol="0" anchor="ctr"/>
          <a:lstStyle/>
          <a:p>
            <a:pPr algn="ctr" indent="0" marL="0">
              <a:buNone/>
            </a:pPr>
            <a:r>
              <a:rPr lang="en-US" sz="3200" b="1" dirty="0">
                <a:solidFill>
                  <a:srgbClr val="52B788"/>
                </a:solidFill>
                <a:latin typeface="Georgia" pitchFamily="34" charset="0"/>
                <a:ea typeface="Georgia" pitchFamily="34" charset="-122"/>
                <a:cs typeface="Georgia" pitchFamily="34" charset="-120"/>
              </a:rPr>
              <a:t>18</a:t>
            </a:r>
            <a:endParaRPr lang="en-US" sz="3200" dirty="0"/>
          </a:p>
        </p:txBody>
      </p:sp>
      <p:sp>
        <p:nvSpPr>
          <p:cNvPr id="22" name="Text 16"/>
          <p:cNvSpPr/>
          <p:nvPr/>
        </p:nvSpPr>
        <p:spPr>
          <a:xfrm>
            <a:off x="731520" y="4434840"/>
            <a:ext cx="1828800" cy="320040"/>
          </a:xfrm>
          <a:prstGeom prst="rect">
            <a:avLst/>
          </a:prstGeom>
          <a:noFill/>
          <a:ln/>
        </p:spPr>
        <p:txBody>
          <a:bodyPr wrap="square" lIns="0" tIns="0" rIns="0" bIns="0" rtlCol="0" anchor="ctr"/>
          <a:lstStyle/>
          <a:p>
            <a:pPr algn="ctr" indent="0" marL="0">
              <a:buNone/>
            </a:pPr>
            <a:r>
              <a:rPr lang="en-US" sz="1100" dirty="0">
                <a:solidFill>
                  <a:srgbClr val="D4C5A9"/>
                </a:solidFill>
                <a:latin typeface="Calibri" pitchFamily="34" charset="0"/>
                <a:ea typeface="Calibri" pitchFamily="34" charset="-122"/>
                <a:cs typeface="Calibri" pitchFamily="34" charset="-120"/>
              </a:rPr>
              <a:t>Build Phases</a:t>
            </a:r>
            <a:endParaRPr lang="en-US" sz="1100" dirty="0"/>
          </a:p>
        </p:txBody>
      </p:sp>
      <p:sp>
        <p:nvSpPr>
          <p:cNvPr id="23" name="Text 17"/>
          <p:cNvSpPr/>
          <p:nvPr/>
        </p:nvSpPr>
        <p:spPr>
          <a:xfrm>
            <a:off x="2862072" y="3931920"/>
            <a:ext cx="1828800" cy="548640"/>
          </a:xfrm>
          <a:prstGeom prst="rect">
            <a:avLst/>
          </a:prstGeom>
          <a:noFill/>
          <a:ln/>
        </p:spPr>
        <p:txBody>
          <a:bodyPr wrap="square" lIns="0" tIns="0" rIns="0" bIns="0" rtlCol="0" anchor="ctr"/>
          <a:lstStyle/>
          <a:p>
            <a:pPr algn="ctr" indent="0" marL="0">
              <a:buNone/>
            </a:pPr>
            <a:r>
              <a:rPr lang="en-US" sz="3200" b="1" dirty="0">
                <a:solidFill>
                  <a:srgbClr val="52B788"/>
                </a:solidFill>
                <a:latin typeface="Georgia" pitchFamily="34" charset="0"/>
                <a:ea typeface="Georgia" pitchFamily="34" charset="-122"/>
                <a:cs typeface="Georgia" pitchFamily="34" charset="-120"/>
              </a:rPr>
              <a:t>132</a:t>
            </a:r>
            <a:endParaRPr lang="en-US" sz="3200" dirty="0"/>
          </a:p>
        </p:txBody>
      </p:sp>
      <p:sp>
        <p:nvSpPr>
          <p:cNvPr id="24" name="Text 18"/>
          <p:cNvSpPr/>
          <p:nvPr/>
        </p:nvSpPr>
        <p:spPr>
          <a:xfrm>
            <a:off x="2862072" y="4434840"/>
            <a:ext cx="1828800" cy="320040"/>
          </a:xfrm>
          <a:prstGeom prst="rect">
            <a:avLst/>
          </a:prstGeom>
          <a:noFill/>
          <a:ln/>
        </p:spPr>
        <p:txBody>
          <a:bodyPr wrap="square" lIns="0" tIns="0" rIns="0" bIns="0" rtlCol="0" anchor="ctr"/>
          <a:lstStyle/>
          <a:p>
            <a:pPr algn="ctr" indent="0" marL="0">
              <a:buNone/>
            </a:pPr>
            <a:r>
              <a:rPr lang="en-US" sz="1100" dirty="0">
                <a:solidFill>
                  <a:srgbClr val="D4C5A9"/>
                </a:solidFill>
                <a:latin typeface="Calibri" pitchFamily="34" charset="0"/>
                <a:ea typeface="Calibri" pitchFamily="34" charset="-122"/>
                <a:cs typeface="Calibri" pitchFamily="34" charset="-120"/>
              </a:rPr>
              <a:t>Design Decisions</a:t>
            </a:r>
            <a:endParaRPr lang="en-US" sz="1100" dirty="0"/>
          </a:p>
        </p:txBody>
      </p:sp>
      <p:sp>
        <p:nvSpPr>
          <p:cNvPr id="25" name="Text 19"/>
          <p:cNvSpPr/>
          <p:nvPr/>
        </p:nvSpPr>
        <p:spPr>
          <a:xfrm>
            <a:off x="4992624" y="3931920"/>
            <a:ext cx="1828800" cy="548640"/>
          </a:xfrm>
          <a:prstGeom prst="rect">
            <a:avLst/>
          </a:prstGeom>
          <a:noFill/>
          <a:ln/>
        </p:spPr>
        <p:txBody>
          <a:bodyPr wrap="square" lIns="0" tIns="0" rIns="0" bIns="0" rtlCol="0" anchor="ctr"/>
          <a:lstStyle/>
          <a:p>
            <a:pPr algn="ctr" indent="0" marL="0">
              <a:buNone/>
            </a:pPr>
            <a:r>
              <a:rPr lang="en-US" sz="3200" b="1" dirty="0">
                <a:solidFill>
                  <a:srgbClr val="52B788"/>
                </a:solidFill>
                <a:latin typeface="Georgia" pitchFamily="34" charset="0"/>
                <a:ea typeface="Georgia" pitchFamily="34" charset="-122"/>
                <a:cs typeface="Georgia" pitchFamily="34" charset="-120"/>
              </a:rPr>
              <a:t>8</a:t>
            </a:r>
            <a:endParaRPr lang="en-US" sz="3200" dirty="0"/>
          </a:p>
        </p:txBody>
      </p:sp>
      <p:sp>
        <p:nvSpPr>
          <p:cNvPr id="26" name="Text 20"/>
          <p:cNvSpPr/>
          <p:nvPr/>
        </p:nvSpPr>
        <p:spPr>
          <a:xfrm>
            <a:off x="4992624" y="4434840"/>
            <a:ext cx="1828800" cy="320040"/>
          </a:xfrm>
          <a:prstGeom prst="rect">
            <a:avLst/>
          </a:prstGeom>
          <a:noFill/>
          <a:ln/>
        </p:spPr>
        <p:txBody>
          <a:bodyPr wrap="square" lIns="0" tIns="0" rIns="0" bIns="0" rtlCol="0" anchor="ctr"/>
          <a:lstStyle/>
          <a:p>
            <a:pPr algn="ctr" indent="0" marL="0">
              <a:buNone/>
            </a:pPr>
            <a:r>
              <a:rPr lang="en-US" sz="1100" dirty="0">
                <a:solidFill>
                  <a:srgbClr val="D4C5A9"/>
                </a:solidFill>
                <a:latin typeface="Calibri" pitchFamily="34" charset="0"/>
                <a:ea typeface="Calibri" pitchFamily="34" charset="-122"/>
                <a:cs typeface="Calibri" pitchFamily="34" charset="-120"/>
              </a:rPr>
              <a:t>Integrated Modules</a:t>
            </a:r>
            <a:endParaRPr lang="en-US" sz="1100" dirty="0"/>
          </a:p>
        </p:txBody>
      </p:sp>
      <p:sp>
        <p:nvSpPr>
          <p:cNvPr id="27" name="Text 21"/>
          <p:cNvSpPr/>
          <p:nvPr/>
        </p:nvSpPr>
        <p:spPr>
          <a:xfrm>
            <a:off x="7123176" y="3931920"/>
            <a:ext cx="1828800" cy="548640"/>
          </a:xfrm>
          <a:prstGeom prst="rect">
            <a:avLst/>
          </a:prstGeom>
          <a:noFill/>
          <a:ln/>
        </p:spPr>
        <p:txBody>
          <a:bodyPr wrap="square" lIns="0" tIns="0" rIns="0" bIns="0" rtlCol="0" anchor="ctr"/>
          <a:lstStyle/>
          <a:p>
            <a:pPr algn="ctr" indent="0" marL="0">
              <a:buNone/>
            </a:pPr>
            <a:r>
              <a:rPr lang="en-US" sz="3200" b="1" dirty="0">
                <a:solidFill>
                  <a:srgbClr val="52B788"/>
                </a:solidFill>
                <a:latin typeface="Georgia" pitchFamily="34" charset="0"/>
                <a:ea typeface="Georgia" pitchFamily="34" charset="-122"/>
                <a:cs typeface="Georgia" pitchFamily="34" charset="-120"/>
              </a:rPr>
              <a:t>2–5</a:t>
            </a:r>
            <a:endParaRPr lang="en-US" sz="3200" dirty="0"/>
          </a:p>
        </p:txBody>
      </p:sp>
      <p:sp>
        <p:nvSpPr>
          <p:cNvPr id="28" name="Text 22"/>
          <p:cNvSpPr/>
          <p:nvPr/>
        </p:nvSpPr>
        <p:spPr>
          <a:xfrm>
            <a:off x="7123176" y="4434840"/>
            <a:ext cx="1828800" cy="320040"/>
          </a:xfrm>
          <a:prstGeom prst="rect">
            <a:avLst/>
          </a:prstGeom>
          <a:noFill/>
          <a:ln/>
        </p:spPr>
        <p:txBody>
          <a:bodyPr wrap="square" lIns="0" tIns="0" rIns="0" bIns="0" rtlCol="0" anchor="ctr"/>
          <a:lstStyle/>
          <a:p>
            <a:pPr algn="ctr" indent="0" marL="0">
              <a:buNone/>
            </a:pPr>
            <a:r>
              <a:rPr lang="en-US" sz="1100" dirty="0">
                <a:solidFill>
                  <a:srgbClr val="D4C5A9"/>
                </a:solidFill>
                <a:latin typeface="Calibri" pitchFamily="34" charset="0"/>
                <a:ea typeface="Calibri" pitchFamily="34" charset="-122"/>
                <a:cs typeface="Calibri" pitchFamily="34" charset="-120"/>
              </a:rPr>
              <a:t>Users, That’s 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4332"/>
          </a:solidFill>
          <a:ln/>
        </p:spPr>
      </p:sp>
      <p:sp>
        <p:nvSpPr>
          <p:cNvPr id="3" name="Text 1"/>
          <p:cNvSpPr/>
          <p:nvPr/>
        </p:nvSpPr>
        <p:spPr>
          <a:xfrm>
            <a:off x="548640" y="274320"/>
            <a:ext cx="4572000" cy="548640"/>
          </a:xfrm>
          <a:prstGeom prst="rect">
            <a:avLst/>
          </a:prstGeom>
          <a:noFill/>
          <a:ln/>
        </p:spPr>
        <p:txBody>
          <a:bodyPr wrap="square" lIns="0" tIns="0" rIns="0" bIns="0" rtlCol="0" anchor="ctr"/>
          <a:lstStyle/>
          <a:p>
            <a:pPr indent="0" marL="0">
              <a:buNone/>
            </a:pPr>
            <a:r>
              <a:rPr lang="en-US" sz="3000" b="1" dirty="0">
                <a:solidFill>
                  <a:srgbClr val="1B4332"/>
                </a:solidFill>
                <a:latin typeface="Georgia" pitchFamily="34" charset="0"/>
                <a:ea typeface="Georgia" pitchFamily="34" charset="-122"/>
                <a:cs typeface="Georgia" pitchFamily="34" charset="-120"/>
              </a:rPr>
              <a:t>Top Features</a:t>
            </a:r>
            <a:endParaRPr lang="en-US" sz="3000" dirty="0"/>
          </a:p>
        </p:txBody>
      </p:sp>
      <p:sp>
        <p:nvSpPr>
          <p:cNvPr id="4" name="Text 2"/>
          <p:cNvSpPr/>
          <p:nvPr/>
        </p:nvSpPr>
        <p:spPr>
          <a:xfrm>
            <a:off x="548640" y="777240"/>
            <a:ext cx="4572000" cy="320040"/>
          </a:xfrm>
          <a:prstGeom prst="rect">
            <a:avLst/>
          </a:prstGeom>
          <a:noFill/>
          <a:ln/>
        </p:spPr>
        <p:txBody>
          <a:bodyPr wrap="square" lIns="0" tIns="0" rIns="0" bIns="0" rtlCol="0" anchor="ctr"/>
          <a:lstStyle/>
          <a:p>
            <a:pPr indent="0" marL="0">
              <a:buNone/>
            </a:pPr>
            <a:r>
              <a:rPr lang="en-US" sz="1400" dirty="0">
                <a:solidFill>
                  <a:srgbClr val="52B788"/>
                </a:solidFill>
                <a:latin typeface="Calibri" pitchFamily="34" charset="0"/>
                <a:ea typeface="Calibri" pitchFamily="34" charset="-122"/>
                <a:cs typeface="Calibri" pitchFamily="34" charset="-120"/>
              </a:rPr>
              <a:t>Core Financial Engine</a:t>
            </a:r>
            <a:endParaRPr lang="en-US" sz="1400" dirty="0"/>
          </a:p>
        </p:txBody>
      </p:sp>
      <p:sp>
        <p:nvSpPr>
          <p:cNvPr id="5" name="Shape 3"/>
          <p:cNvSpPr/>
          <p:nvPr/>
        </p:nvSpPr>
        <p:spPr>
          <a:xfrm>
            <a:off x="548640" y="1325880"/>
            <a:ext cx="502920" cy="502920"/>
          </a:xfrm>
          <a:prstGeom prst="ellipse">
            <a:avLst/>
          </a:prstGeom>
          <a:solidFill>
            <a:srgbClr val="D8F3DC"/>
          </a:solidFill>
          <a:ln/>
        </p:spPr>
      </p:sp>
      <p:pic>
        <p:nvPicPr>
          <p:cNvPr id="6" name="Image 0" descr="preencoded.png">    </p:cNvPr>
          <p:cNvPicPr>
            <a:picLocks noChangeAspect="1"/>
          </p:cNvPicPr>
          <p:nvPr/>
        </p:nvPicPr>
        <p:blipFill>
          <a:blip r:embed="rId1"/>
          <a:stretch>
            <a:fillRect/>
          </a:stretch>
        </p:blipFill>
        <p:spPr>
          <a:xfrm>
            <a:off x="640080" y="1417320"/>
            <a:ext cx="320040" cy="320040"/>
          </a:xfrm>
          <a:prstGeom prst="rect">
            <a:avLst/>
          </a:prstGeom>
        </p:spPr>
      </p:pic>
      <p:sp>
        <p:nvSpPr>
          <p:cNvPr id="7" name="Text 4"/>
          <p:cNvSpPr/>
          <p:nvPr/>
        </p:nvSpPr>
        <p:spPr>
          <a:xfrm>
            <a:off x="1234440" y="1280160"/>
            <a:ext cx="3291840" cy="32004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Fund Accounting</a:t>
            </a:r>
            <a:endParaRPr lang="en-US" sz="1400" dirty="0"/>
          </a:p>
        </p:txBody>
      </p:sp>
      <p:sp>
        <p:nvSpPr>
          <p:cNvPr id="8" name="Text 5"/>
          <p:cNvSpPr/>
          <p:nvPr/>
        </p:nvSpPr>
        <p:spPr>
          <a:xfrm>
            <a:off x="1234440" y="1600200"/>
            <a:ext cx="3291840" cy="11887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Every dollar is tracked by fund — restricted vs. unrestricted. When you spend from a restricted grant, the system automatically reclassifies net assets so your books are always correct.</a:t>
            </a:r>
            <a:endParaRPr lang="en-US" sz="1100" dirty="0"/>
          </a:p>
        </p:txBody>
      </p:sp>
      <p:sp>
        <p:nvSpPr>
          <p:cNvPr id="9" name="Shape 6"/>
          <p:cNvSpPr/>
          <p:nvPr/>
        </p:nvSpPr>
        <p:spPr>
          <a:xfrm>
            <a:off x="4754880" y="1325880"/>
            <a:ext cx="502920" cy="502920"/>
          </a:xfrm>
          <a:prstGeom prst="ellipse">
            <a:avLst/>
          </a:prstGeom>
          <a:solidFill>
            <a:srgbClr val="D8F3DC"/>
          </a:solidFill>
          <a:ln/>
        </p:spPr>
      </p:sp>
      <p:pic>
        <p:nvPicPr>
          <p:cNvPr id="10" name="Image 1" descr="preencoded.png">    </p:cNvPr>
          <p:cNvPicPr>
            <a:picLocks noChangeAspect="1"/>
          </p:cNvPicPr>
          <p:nvPr/>
        </p:nvPicPr>
        <p:blipFill>
          <a:blip r:embed="rId2"/>
          <a:stretch>
            <a:fillRect/>
          </a:stretch>
        </p:blipFill>
        <p:spPr>
          <a:xfrm>
            <a:off x="4846320" y="1417320"/>
            <a:ext cx="320040" cy="320040"/>
          </a:xfrm>
          <a:prstGeom prst="rect">
            <a:avLst/>
          </a:prstGeom>
        </p:spPr>
      </p:pic>
      <p:sp>
        <p:nvSpPr>
          <p:cNvPr id="11" name="Text 7"/>
          <p:cNvSpPr/>
          <p:nvPr/>
        </p:nvSpPr>
        <p:spPr>
          <a:xfrm>
            <a:off x="5440680" y="1280160"/>
            <a:ext cx="3291840" cy="32004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Bank Reconciliation</a:t>
            </a:r>
            <a:endParaRPr lang="en-US" sz="1400" dirty="0"/>
          </a:p>
        </p:txBody>
      </p:sp>
      <p:sp>
        <p:nvSpPr>
          <p:cNvPr id="12" name="Text 8"/>
          <p:cNvSpPr/>
          <p:nvPr/>
        </p:nvSpPr>
        <p:spPr>
          <a:xfrm>
            <a:off x="5440680" y="1600200"/>
            <a:ext cx="3291840" cy="11887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Live bank feeds from UMass Five via Plaid. The system suggests matches, learns your patterns, and builds rules so reconciliation gets faster every month.</a:t>
            </a:r>
            <a:endParaRPr lang="en-US" sz="1100" dirty="0"/>
          </a:p>
        </p:txBody>
      </p:sp>
      <p:sp>
        <p:nvSpPr>
          <p:cNvPr id="13" name="Shape 9"/>
          <p:cNvSpPr/>
          <p:nvPr/>
        </p:nvSpPr>
        <p:spPr>
          <a:xfrm>
            <a:off x="548640" y="3017520"/>
            <a:ext cx="502920" cy="502920"/>
          </a:xfrm>
          <a:prstGeom prst="ellipse">
            <a:avLst/>
          </a:prstGeom>
          <a:solidFill>
            <a:srgbClr val="D8F3DC"/>
          </a:solidFill>
          <a:ln/>
        </p:spPr>
      </p:sp>
      <p:pic>
        <p:nvPicPr>
          <p:cNvPr id="14" name="Image 2" descr="preencoded.png">    </p:cNvPr>
          <p:cNvPicPr>
            <a:picLocks noChangeAspect="1"/>
          </p:cNvPicPr>
          <p:nvPr/>
        </p:nvPicPr>
        <p:blipFill>
          <a:blip r:embed="rId3"/>
          <a:stretch>
            <a:fillRect/>
          </a:stretch>
        </p:blipFill>
        <p:spPr>
          <a:xfrm>
            <a:off x="640080" y="3108960"/>
            <a:ext cx="320040" cy="320040"/>
          </a:xfrm>
          <a:prstGeom prst="rect">
            <a:avLst/>
          </a:prstGeom>
        </p:spPr>
      </p:pic>
      <p:sp>
        <p:nvSpPr>
          <p:cNvPr id="15" name="Text 10"/>
          <p:cNvSpPr/>
          <p:nvPr/>
        </p:nvSpPr>
        <p:spPr>
          <a:xfrm>
            <a:off x="1234440" y="2971800"/>
            <a:ext cx="3291840" cy="32004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Ramp Credit Card Sync</a:t>
            </a:r>
            <a:endParaRPr lang="en-US" sz="1400" dirty="0"/>
          </a:p>
        </p:txBody>
      </p:sp>
      <p:sp>
        <p:nvSpPr>
          <p:cNvPr id="16" name="Text 11"/>
          <p:cNvSpPr/>
          <p:nvPr/>
        </p:nvSpPr>
        <p:spPr>
          <a:xfrm>
            <a:off x="1234440" y="3291840"/>
            <a:ext cx="3291840" cy="11887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Daily automatic import of Ramp transactions. AI suggests categories, you confirm, and the system learns. Create rules so repeat merchants categorize themselves.</a:t>
            </a:r>
            <a:endParaRPr lang="en-US" sz="1100" dirty="0"/>
          </a:p>
        </p:txBody>
      </p:sp>
      <p:sp>
        <p:nvSpPr>
          <p:cNvPr id="17" name="Shape 12"/>
          <p:cNvSpPr/>
          <p:nvPr/>
        </p:nvSpPr>
        <p:spPr>
          <a:xfrm>
            <a:off x="4754880" y="3017520"/>
            <a:ext cx="502920" cy="502920"/>
          </a:xfrm>
          <a:prstGeom prst="ellipse">
            <a:avLst/>
          </a:prstGeom>
          <a:solidFill>
            <a:srgbClr val="D8F3DC"/>
          </a:solidFill>
          <a:ln/>
        </p:spPr>
      </p:sp>
      <p:pic>
        <p:nvPicPr>
          <p:cNvPr id="18" name="Image 3" descr="preencoded.png">    </p:cNvPr>
          <p:cNvPicPr>
            <a:picLocks noChangeAspect="1"/>
          </p:cNvPicPr>
          <p:nvPr/>
        </p:nvPicPr>
        <p:blipFill>
          <a:blip r:embed="rId4"/>
          <a:stretch>
            <a:fillRect/>
          </a:stretch>
        </p:blipFill>
        <p:spPr>
          <a:xfrm>
            <a:off x="4846320" y="3108960"/>
            <a:ext cx="320040" cy="320040"/>
          </a:xfrm>
          <a:prstGeom prst="rect">
            <a:avLst/>
          </a:prstGeom>
        </p:spPr>
      </p:pic>
      <p:sp>
        <p:nvSpPr>
          <p:cNvPr id="19" name="Text 13"/>
          <p:cNvSpPr/>
          <p:nvPr/>
        </p:nvSpPr>
        <p:spPr>
          <a:xfrm>
            <a:off x="5440680" y="2971800"/>
            <a:ext cx="3291840" cy="32004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Purchase Orders &amp; Invoices</a:t>
            </a:r>
            <a:endParaRPr lang="en-US" sz="1400" dirty="0"/>
          </a:p>
        </p:txBody>
      </p:sp>
      <p:sp>
        <p:nvSpPr>
          <p:cNvPr id="20" name="Text 14"/>
          <p:cNvSpPr/>
          <p:nvPr/>
        </p:nvSpPr>
        <p:spPr>
          <a:xfrm>
            <a:off x="5440680" y="3291840"/>
            <a:ext cx="3291840" cy="11887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Upload a contractor’s contract and AI extracts milestones, deadlines, and payment terms. Track invoices against POs with automatic budget capacity warnings.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4332"/>
          </a:solidFill>
          <a:ln/>
        </p:spPr>
      </p:sp>
      <p:sp>
        <p:nvSpPr>
          <p:cNvPr id="3" name="Text 1"/>
          <p:cNvSpPr/>
          <p:nvPr/>
        </p:nvSpPr>
        <p:spPr>
          <a:xfrm>
            <a:off x="548640" y="274320"/>
            <a:ext cx="4572000" cy="548640"/>
          </a:xfrm>
          <a:prstGeom prst="rect">
            <a:avLst/>
          </a:prstGeom>
          <a:noFill/>
          <a:ln/>
        </p:spPr>
        <p:txBody>
          <a:bodyPr wrap="square" lIns="0" tIns="0" rIns="0" bIns="0" rtlCol="0" anchor="ctr"/>
          <a:lstStyle/>
          <a:p>
            <a:pPr indent="0" marL="0">
              <a:buNone/>
            </a:pPr>
            <a:r>
              <a:rPr lang="en-US" sz="3000" b="1" dirty="0">
                <a:solidFill>
                  <a:srgbClr val="1B4332"/>
                </a:solidFill>
                <a:latin typeface="Georgia" pitchFamily="34" charset="0"/>
                <a:ea typeface="Georgia" pitchFamily="34" charset="-122"/>
                <a:cs typeface="Georgia" pitchFamily="34" charset="-120"/>
              </a:rPr>
              <a:t>Top Features</a:t>
            </a:r>
            <a:endParaRPr lang="en-US" sz="3000" dirty="0"/>
          </a:p>
        </p:txBody>
      </p:sp>
      <p:sp>
        <p:nvSpPr>
          <p:cNvPr id="4" name="Text 2"/>
          <p:cNvSpPr/>
          <p:nvPr/>
        </p:nvSpPr>
        <p:spPr>
          <a:xfrm>
            <a:off x="548640" y="777240"/>
            <a:ext cx="5486400" cy="320040"/>
          </a:xfrm>
          <a:prstGeom prst="rect">
            <a:avLst/>
          </a:prstGeom>
          <a:noFill/>
          <a:ln/>
        </p:spPr>
        <p:txBody>
          <a:bodyPr wrap="square" lIns="0" tIns="0" rIns="0" bIns="0" rtlCol="0" anchor="ctr"/>
          <a:lstStyle/>
          <a:p>
            <a:pPr indent="0" marL="0">
              <a:buNone/>
            </a:pPr>
            <a:r>
              <a:rPr lang="en-US" sz="1400" dirty="0">
                <a:solidFill>
                  <a:srgbClr val="52B788"/>
                </a:solidFill>
                <a:latin typeface="Calibri" pitchFamily="34" charset="0"/>
                <a:ea typeface="Calibri" pitchFamily="34" charset="-122"/>
                <a:cs typeface="Calibri" pitchFamily="34" charset="-120"/>
              </a:rPr>
              <a:t>Reporting, Compliance &amp; Intelligence</a:t>
            </a:r>
            <a:endParaRPr lang="en-US" sz="1400" dirty="0"/>
          </a:p>
        </p:txBody>
      </p:sp>
      <p:sp>
        <p:nvSpPr>
          <p:cNvPr id="5" name="Shape 3"/>
          <p:cNvSpPr/>
          <p:nvPr/>
        </p:nvSpPr>
        <p:spPr>
          <a:xfrm>
            <a:off x="548640" y="1325880"/>
            <a:ext cx="502920" cy="502920"/>
          </a:xfrm>
          <a:prstGeom prst="ellipse">
            <a:avLst/>
          </a:prstGeom>
          <a:solidFill>
            <a:srgbClr val="D8F3DC"/>
          </a:solidFill>
          <a:ln/>
        </p:spPr>
      </p:sp>
      <p:pic>
        <p:nvPicPr>
          <p:cNvPr id="6" name="Image 0" descr="preencoded.png">    </p:cNvPr>
          <p:cNvPicPr>
            <a:picLocks noChangeAspect="1"/>
          </p:cNvPicPr>
          <p:nvPr/>
        </p:nvPicPr>
        <p:blipFill>
          <a:blip r:embed="rId1"/>
          <a:stretch>
            <a:fillRect/>
          </a:stretch>
        </p:blipFill>
        <p:spPr>
          <a:xfrm>
            <a:off x="640080" y="1417320"/>
            <a:ext cx="320040" cy="320040"/>
          </a:xfrm>
          <a:prstGeom prst="rect">
            <a:avLst/>
          </a:prstGeom>
        </p:spPr>
      </p:pic>
      <p:sp>
        <p:nvSpPr>
          <p:cNvPr id="7" name="Text 4"/>
          <p:cNvSpPr/>
          <p:nvPr/>
        </p:nvSpPr>
        <p:spPr>
          <a:xfrm>
            <a:off x="1234440" y="1280160"/>
            <a:ext cx="3291840" cy="32004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29 Built-In Reports</a:t>
            </a:r>
            <a:endParaRPr lang="en-US" sz="1400" dirty="0"/>
          </a:p>
        </p:txBody>
      </p:sp>
      <p:sp>
        <p:nvSpPr>
          <p:cNvPr id="8" name="Text 5"/>
          <p:cNvSpPr/>
          <p:nvPr/>
        </p:nvSpPr>
        <p:spPr>
          <a:xfrm>
            <a:off x="1234440" y="1600200"/>
            <a:ext cx="3291840" cy="11887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Financial statements, board packs, budget-vs-actual, cash projections, grant tracking, CIP summaries — everything you need at your fingertips. Export to PDF with one click.</a:t>
            </a:r>
            <a:endParaRPr lang="en-US" sz="1100" dirty="0"/>
          </a:p>
        </p:txBody>
      </p:sp>
      <p:sp>
        <p:nvSpPr>
          <p:cNvPr id="9" name="Shape 6"/>
          <p:cNvSpPr/>
          <p:nvPr/>
        </p:nvSpPr>
        <p:spPr>
          <a:xfrm>
            <a:off x="4754880" y="1325880"/>
            <a:ext cx="502920" cy="502920"/>
          </a:xfrm>
          <a:prstGeom prst="ellipse">
            <a:avLst/>
          </a:prstGeom>
          <a:solidFill>
            <a:srgbClr val="D8F3DC"/>
          </a:solidFill>
          <a:ln/>
        </p:spPr>
      </p:sp>
      <p:pic>
        <p:nvPicPr>
          <p:cNvPr id="10" name="Image 1" descr="preencoded.png">    </p:cNvPr>
          <p:cNvPicPr>
            <a:picLocks noChangeAspect="1"/>
          </p:cNvPicPr>
          <p:nvPr/>
        </p:nvPicPr>
        <p:blipFill>
          <a:blip r:embed="rId2"/>
          <a:stretch>
            <a:fillRect/>
          </a:stretch>
        </p:blipFill>
        <p:spPr>
          <a:xfrm>
            <a:off x="4846320" y="1417320"/>
            <a:ext cx="320040" cy="320040"/>
          </a:xfrm>
          <a:prstGeom prst="rect">
            <a:avLst/>
          </a:prstGeom>
        </p:spPr>
      </p:pic>
      <p:sp>
        <p:nvSpPr>
          <p:cNvPr id="11" name="Text 7"/>
          <p:cNvSpPr/>
          <p:nvPr/>
        </p:nvSpPr>
        <p:spPr>
          <a:xfrm>
            <a:off x="5440680" y="1280160"/>
            <a:ext cx="3291840" cy="32004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Compliance Autopilot</a:t>
            </a:r>
            <a:endParaRPr lang="en-US" sz="1400" dirty="0"/>
          </a:p>
        </p:txBody>
      </p:sp>
      <p:sp>
        <p:nvSpPr>
          <p:cNvPr id="12" name="Text 8"/>
          <p:cNvSpPr/>
          <p:nvPr/>
        </p:nvSpPr>
        <p:spPr>
          <a:xfrm>
            <a:off x="5440680" y="1600200"/>
            <a:ext cx="3291840" cy="11887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Never miss a filing deadline. Automated reminders for Form 990, MA AG Form PC, annual reports, insurance renewals, and loan covenants. Functional expense allocations for 990 Part IX.</a:t>
            </a:r>
            <a:endParaRPr lang="en-US" sz="1100" dirty="0"/>
          </a:p>
        </p:txBody>
      </p:sp>
      <p:sp>
        <p:nvSpPr>
          <p:cNvPr id="13" name="Shape 9"/>
          <p:cNvSpPr/>
          <p:nvPr/>
        </p:nvSpPr>
        <p:spPr>
          <a:xfrm>
            <a:off x="548640" y="3017520"/>
            <a:ext cx="502920" cy="502920"/>
          </a:xfrm>
          <a:prstGeom prst="ellipse">
            <a:avLst/>
          </a:prstGeom>
          <a:solidFill>
            <a:srgbClr val="D8F3DC"/>
          </a:solidFill>
          <a:ln/>
        </p:spPr>
      </p:sp>
      <p:pic>
        <p:nvPicPr>
          <p:cNvPr id="14" name="Image 2" descr="preencoded.png">    </p:cNvPr>
          <p:cNvPicPr>
            <a:picLocks noChangeAspect="1"/>
          </p:cNvPicPr>
          <p:nvPr/>
        </p:nvPicPr>
        <p:blipFill>
          <a:blip r:embed="rId3"/>
          <a:stretch>
            <a:fillRect/>
          </a:stretch>
        </p:blipFill>
        <p:spPr>
          <a:xfrm>
            <a:off x="640080" y="3108960"/>
            <a:ext cx="320040" cy="320040"/>
          </a:xfrm>
          <a:prstGeom prst="rect">
            <a:avLst/>
          </a:prstGeom>
        </p:spPr>
      </p:pic>
      <p:sp>
        <p:nvSpPr>
          <p:cNvPr id="15" name="Text 10"/>
          <p:cNvSpPr/>
          <p:nvPr/>
        </p:nvSpPr>
        <p:spPr>
          <a:xfrm>
            <a:off x="1234440" y="2971800"/>
            <a:ext cx="3291840" cy="32004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AI Copilot on Every Page</a:t>
            </a:r>
            <a:endParaRPr lang="en-US" sz="1400" dirty="0"/>
          </a:p>
        </p:txBody>
      </p:sp>
      <p:sp>
        <p:nvSpPr>
          <p:cNvPr id="16" name="Text 11"/>
          <p:cNvSpPr/>
          <p:nvPr/>
        </p:nvSpPr>
        <p:spPr>
          <a:xfrm>
            <a:off x="1234440" y="3291840"/>
            <a:ext cx="3291840" cy="11887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Ask plain-English questions like “What did we spend on HVAC this quarter?” and get instant answers. The copilot understands your chart of accounts, funds, and compliance calendar.</a:t>
            </a:r>
            <a:endParaRPr lang="en-US" sz="1100" dirty="0"/>
          </a:p>
        </p:txBody>
      </p:sp>
      <p:sp>
        <p:nvSpPr>
          <p:cNvPr id="17" name="Shape 12"/>
          <p:cNvSpPr/>
          <p:nvPr/>
        </p:nvSpPr>
        <p:spPr>
          <a:xfrm>
            <a:off x="4754880" y="3017520"/>
            <a:ext cx="502920" cy="502920"/>
          </a:xfrm>
          <a:prstGeom prst="ellipse">
            <a:avLst/>
          </a:prstGeom>
          <a:solidFill>
            <a:srgbClr val="D8F3DC"/>
          </a:solidFill>
          <a:ln/>
        </p:spPr>
      </p:sp>
      <p:pic>
        <p:nvPicPr>
          <p:cNvPr id="18" name="Image 3" descr="preencoded.png">    </p:cNvPr>
          <p:cNvPicPr>
            <a:picLocks noChangeAspect="1"/>
          </p:cNvPicPr>
          <p:nvPr/>
        </p:nvPicPr>
        <p:blipFill>
          <a:blip r:embed="rId4"/>
          <a:stretch>
            <a:fillRect/>
          </a:stretch>
        </p:blipFill>
        <p:spPr>
          <a:xfrm>
            <a:off x="4846320" y="3108960"/>
            <a:ext cx="320040" cy="320040"/>
          </a:xfrm>
          <a:prstGeom prst="rect">
            <a:avLst/>
          </a:prstGeom>
        </p:spPr>
      </p:pic>
      <p:sp>
        <p:nvSpPr>
          <p:cNvPr id="19" name="Text 13"/>
          <p:cNvSpPr/>
          <p:nvPr/>
        </p:nvSpPr>
        <p:spPr>
          <a:xfrm>
            <a:off x="5440680" y="2971800"/>
            <a:ext cx="3291840" cy="32004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Payroll Engine</a:t>
            </a:r>
            <a:endParaRPr lang="en-US" sz="1400" dirty="0"/>
          </a:p>
        </p:txBody>
      </p:sp>
      <p:sp>
        <p:nvSpPr>
          <p:cNvPr id="20" name="Text 14"/>
          <p:cNvSpPr/>
          <p:nvPr/>
        </p:nvSpPr>
        <p:spPr>
          <a:xfrm>
            <a:off x="5440680" y="3291840"/>
            <a:ext cx="3291840" cy="11887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Full payroll calculations — federal and MA state withholding, FICA, overtime — with fund allocation from timesheets. Generates W-2s and tracks 1099 thresholds automatically.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DF8"/>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4332"/>
          </a:solidFill>
          <a:ln/>
        </p:spPr>
      </p:sp>
      <p:sp>
        <p:nvSpPr>
          <p:cNvPr id="3" name="Text 1"/>
          <p:cNvSpPr/>
          <p:nvPr/>
        </p:nvSpPr>
        <p:spPr>
          <a:xfrm>
            <a:off x="548640" y="274320"/>
            <a:ext cx="77724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Key Benefits to Renewal Initiatives</a:t>
            </a:r>
            <a:endParaRPr lang="en-US" sz="2800" dirty="0"/>
          </a:p>
        </p:txBody>
      </p:sp>
      <p:pic>
        <p:nvPicPr>
          <p:cNvPr id="4" name="Image 0" descr="preencoded.png">    </p:cNvPr>
          <p:cNvPicPr>
            <a:picLocks noChangeAspect="1"/>
          </p:cNvPicPr>
          <p:nvPr/>
        </p:nvPicPr>
        <p:blipFill>
          <a:blip r:embed="rId1"/>
          <a:stretch>
            <a:fillRect/>
          </a:stretch>
        </p:blipFill>
        <p:spPr>
          <a:xfrm>
            <a:off x="548640" y="1508760"/>
            <a:ext cx="274320" cy="274320"/>
          </a:xfrm>
          <a:prstGeom prst="rect">
            <a:avLst/>
          </a:prstGeom>
        </p:spPr>
      </p:pic>
      <p:sp>
        <p:nvSpPr>
          <p:cNvPr id="5" name="Text 2"/>
          <p:cNvSpPr/>
          <p:nvPr/>
        </p:nvSpPr>
        <p:spPr>
          <a:xfrm>
            <a:off x="960120" y="1463040"/>
            <a:ext cx="3566160" cy="274320"/>
          </a:xfrm>
          <a:prstGeom prst="rect">
            <a:avLst/>
          </a:prstGeom>
          <a:noFill/>
          <a:ln/>
        </p:spPr>
        <p:txBody>
          <a:bodyPr wrap="square" lIns="0" tIns="0" rIns="0" bIns="0"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Grant-Ready from Day One</a:t>
            </a:r>
            <a:endParaRPr lang="en-US" sz="1300" dirty="0"/>
          </a:p>
        </p:txBody>
      </p:sp>
      <p:sp>
        <p:nvSpPr>
          <p:cNvPr id="6" name="Text 3"/>
          <p:cNvSpPr/>
          <p:nvPr/>
        </p:nvSpPr>
        <p:spPr>
          <a:xfrm>
            <a:off x="960120" y="1783080"/>
            <a:ext cx="3566160" cy="685800"/>
          </a:xfrm>
          <a:prstGeom prst="rect">
            <a:avLst/>
          </a:prstGeom>
          <a:noFill/>
          <a:ln/>
        </p:spPr>
        <p:txBody>
          <a:bodyPr wrap="square" lIns="0" tIns="0" rIns="0" bIns="0" rtlCol="0" anchor="ctr"/>
          <a:lstStyle/>
          <a:p>
            <a:pPr indent="0" marL="0">
              <a:buNone/>
            </a:pPr>
            <a:r>
              <a:rPr lang="en-US" sz="1050" dirty="0">
                <a:solidFill>
                  <a:srgbClr val="636E72"/>
                </a:solidFill>
                <a:latin typeface="Calibri" pitchFamily="34" charset="0"/>
                <a:ea typeface="Calibri" pitchFamily="34" charset="-122"/>
                <a:cs typeface="Calibri" pitchFamily="34" charset="-120"/>
              </a:rPr>
              <a:t>When CDBG, CPA, or SARE funding arrives, the system already has funds set up for each source with proper restriction tracking and reporting.</a:t>
            </a:r>
            <a:endParaRPr lang="en-US" sz="1050" dirty="0"/>
          </a:p>
        </p:txBody>
      </p:sp>
      <p:pic>
        <p:nvPicPr>
          <p:cNvPr id="7" name="Image 1" descr="preencoded.png">    </p:cNvPr>
          <p:cNvPicPr>
            <a:picLocks noChangeAspect="1"/>
          </p:cNvPicPr>
          <p:nvPr/>
        </p:nvPicPr>
        <p:blipFill>
          <a:blip r:embed="rId2"/>
          <a:stretch>
            <a:fillRect/>
          </a:stretch>
        </p:blipFill>
        <p:spPr>
          <a:xfrm>
            <a:off x="4800600" y="1508760"/>
            <a:ext cx="274320" cy="274320"/>
          </a:xfrm>
          <a:prstGeom prst="rect">
            <a:avLst/>
          </a:prstGeom>
        </p:spPr>
      </p:pic>
      <p:sp>
        <p:nvSpPr>
          <p:cNvPr id="8" name="Text 4"/>
          <p:cNvSpPr/>
          <p:nvPr/>
        </p:nvSpPr>
        <p:spPr>
          <a:xfrm>
            <a:off x="5212080" y="1463040"/>
            <a:ext cx="3566160" cy="274320"/>
          </a:xfrm>
          <a:prstGeom prst="rect">
            <a:avLst/>
          </a:prstGeom>
          <a:noFill/>
          <a:ln/>
        </p:spPr>
        <p:txBody>
          <a:bodyPr wrap="square" lIns="0" tIns="0" rIns="0" bIns="0"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Board Confidence</a:t>
            </a:r>
            <a:endParaRPr lang="en-US" sz="1300" dirty="0"/>
          </a:p>
        </p:txBody>
      </p:sp>
      <p:sp>
        <p:nvSpPr>
          <p:cNvPr id="9" name="Text 5"/>
          <p:cNvSpPr/>
          <p:nvPr/>
        </p:nvSpPr>
        <p:spPr>
          <a:xfrm>
            <a:off x="5212080" y="1783080"/>
            <a:ext cx="3566160" cy="685800"/>
          </a:xfrm>
          <a:prstGeom prst="rect">
            <a:avLst/>
          </a:prstGeom>
          <a:noFill/>
          <a:ln/>
        </p:spPr>
        <p:txBody>
          <a:bodyPr wrap="square" lIns="0" tIns="0" rIns="0" bIns="0" rtlCol="0" anchor="ctr"/>
          <a:lstStyle/>
          <a:p>
            <a:pPr indent="0" marL="0">
              <a:buNone/>
            </a:pPr>
            <a:r>
              <a:rPr lang="en-US" sz="1050" dirty="0">
                <a:solidFill>
                  <a:srgbClr val="636E72"/>
                </a:solidFill>
                <a:latin typeface="Calibri" pitchFamily="34" charset="0"/>
                <a:ea typeface="Calibri" pitchFamily="34" charset="-122"/>
                <a:cs typeface="Calibri" pitchFamily="34" charset="-120"/>
              </a:rPr>
              <a:t>Quarterly board packs generated in one click: P&amp;L, Balance Sheet, Cash Flow, and the 3-month forward cash projection the board requested.</a:t>
            </a:r>
            <a:endParaRPr lang="en-US" sz="1050" dirty="0"/>
          </a:p>
        </p:txBody>
      </p:sp>
      <p:pic>
        <p:nvPicPr>
          <p:cNvPr id="10" name="Image 2" descr="preencoded.png">    </p:cNvPr>
          <p:cNvPicPr>
            <a:picLocks noChangeAspect="1"/>
          </p:cNvPicPr>
          <p:nvPr/>
        </p:nvPicPr>
        <p:blipFill>
          <a:blip r:embed="rId3"/>
          <a:stretch>
            <a:fillRect/>
          </a:stretch>
        </p:blipFill>
        <p:spPr>
          <a:xfrm>
            <a:off x="548640" y="2651760"/>
            <a:ext cx="274320" cy="274320"/>
          </a:xfrm>
          <a:prstGeom prst="rect">
            <a:avLst/>
          </a:prstGeom>
        </p:spPr>
      </p:pic>
      <p:sp>
        <p:nvSpPr>
          <p:cNvPr id="11" name="Text 6"/>
          <p:cNvSpPr/>
          <p:nvPr/>
        </p:nvSpPr>
        <p:spPr>
          <a:xfrm>
            <a:off x="960120" y="2606040"/>
            <a:ext cx="3566160" cy="274320"/>
          </a:xfrm>
          <a:prstGeom prst="rect">
            <a:avLst/>
          </a:prstGeom>
          <a:noFill/>
          <a:ln/>
        </p:spPr>
        <p:txBody>
          <a:bodyPr wrap="square" lIns="0" tIns="0" rIns="0" bIns="0"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Compliance Peace of Mind</a:t>
            </a:r>
            <a:endParaRPr lang="en-US" sz="1300" dirty="0"/>
          </a:p>
        </p:txBody>
      </p:sp>
      <p:sp>
        <p:nvSpPr>
          <p:cNvPr id="12" name="Text 7"/>
          <p:cNvSpPr/>
          <p:nvPr/>
        </p:nvSpPr>
        <p:spPr>
          <a:xfrm>
            <a:off x="960120" y="2926080"/>
            <a:ext cx="3566160" cy="685800"/>
          </a:xfrm>
          <a:prstGeom prst="rect">
            <a:avLst/>
          </a:prstGeom>
          <a:noFill/>
          <a:ln/>
        </p:spPr>
        <p:txBody>
          <a:bodyPr wrap="square" lIns="0" tIns="0" rIns="0" bIns="0" rtlCol="0" anchor="ctr"/>
          <a:lstStyle/>
          <a:p>
            <a:pPr indent="0" marL="0">
              <a:buNone/>
            </a:pPr>
            <a:r>
              <a:rPr lang="en-US" sz="1050" dirty="0">
                <a:solidFill>
                  <a:srgbClr val="636E72"/>
                </a:solidFill>
                <a:latin typeface="Calibri" pitchFamily="34" charset="0"/>
                <a:ea typeface="Calibri" pitchFamily="34" charset="-122"/>
                <a:cs typeface="Calibri" pitchFamily="34" charset="-120"/>
              </a:rPr>
              <a:t>Automated deadline tracking and Form 990 data mapping means no more scrambling at filing time. The public support test runs continuously.</a:t>
            </a:r>
            <a:endParaRPr lang="en-US" sz="1050" dirty="0"/>
          </a:p>
        </p:txBody>
      </p:sp>
      <p:pic>
        <p:nvPicPr>
          <p:cNvPr id="13" name="Image 3" descr="preencoded.png">    </p:cNvPr>
          <p:cNvPicPr>
            <a:picLocks noChangeAspect="1"/>
          </p:cNvPicPr>
          <p:nvPr/>
        </p:nvPicPr>
        <p:blipFill>
          <a:blip r:embed="rId4"/>
          <a:stretch>
            <a:fillRect/>
          </a:stretch>
        </p:blipFill>
        <p:spPr>
          <a:xfrm>
            <a:off x="4800600" y="2651760"/>
            <a:ext cx="274320" cy="274320"/>
          </a:xfrm>
          <a:prstGeom prst="rect">
            <a:avLst/>
          </a:prstGeom>
        </p:spPr>
      </p:pic>
      <p:sp>
        <p:nvSpPr>
          <p:cNvPr id="14" name="Text 8"/>
          <p:cNvSpPr/>
          <p:nvPr/>
        </p:nvSpPr>
        <p:spPr>
          <a:xfrm>
            <a:off x="5212080" y="2606040"/>
            <a:ext cx="3566160" cy="274320"/>
          </a:xfrm>
          <a:prstGeom prst="rect">
            <a:avLst/>
          </a:prstGeom>
          <a:noFill/>
          <a:ln/>
        </p:spPr>
        <p:txBody>
          <a:bodyPr wrap="square" lIns="0" tIns="0" rIns="0" bIns="0"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Hours Saved Every Month</a:t>
            </a:r>
            <a:endParaRPr lang="en-US" sz="1300" dirty="0"/>
          </a:p>
        </p:txBody>
      </p:sp>
      <p:sp>
        <p:nvSpPr>
          <p:cNvPr id="15" name="Text 9"/>
          <p:cNvSpPr/>
          <p:nvPr/>
        </p:nvSpPr>
        <p:spPr>
          <a:xfrm>
            <a:off x="5212080" y="2926080"/>
            <a:ext cx="3566160" cy="685800"/>
          </a:xfrm>
          <a:prstGeom prst="rect">
            <a:avLst/>
          </a:prstGeom>
          <a:noFill/>
          <a:ln/>
        </p:spPr>
        <p:txBody>
          <a:bodyPr wrap="square" lIns="0" tIns="0" rIns="0" bIns="0" rtlCol="0" anchor="ctr"/>
          <a:lstStyle/>
          <a:p>
            <a:pPr indent="0" marL="0">
              <a:buNone/>
            </a:pPr>
            <a:r>
              <a:rPr lang="en-US" sz="1050" dirty="0">
                <a:solidFill>
                  <a:srgbClr val="636E72"/>
                </a:solidFill>
                <a:latin typeface="Calibri" pitchFamily="34" charset="0"/>
                <a:ea typeface="Calibri" pitchFamily="34" charset="-122"/>
                <a:cs typeface="Calibri" pitchFamily="34" charset="-120"/>
              </a:rPr>
              <a:t>Automatic bank feeds, credit card sync, and expense report imports eliminate manual data entry. Payroll calculates itself from approved timesheets.</a:t>
            </a:r>
            <a:endParaRPr lang="en-US" sz="1050" dirty="0"/>
          </a:p>
        </p:txBody>
      </p:sp>
      <p:pic>
        <p:nvPicPr>
          <p:cNvPr id="16" name="Image 4" descr="preencoded.png">    </p:cNvPr>
          <p:cNvPicPr>
            <a:picLocks noChangeAspect="1"/>
          </p:cNvPicPr>
          <p:nvPr/>
        </p:nvPicPr>
        <p:blipFill>
          <a:blip r:embed="rId5"/>
          <a:stretch>
            <a:fillRect/>
          </a:stretch>
        </p:blipFill>
        <p:spPr>
          <a:xfrm>
            <a:off x="548640" y="3794760"/>
            <a:ext cx="274320" cy="274320"/>
          </a:xfrm>
          <a:prstGeom prst="rect">
            <a:avLst/>
          </a:prstGeom>
        </p:spPr>
      </p:pic>
      <p:sp>
        <p:nvSpPr>
          <p:cNvPr id="17" name="Text 10"/>
          <p:cNvSpPr/>
          <p:nvPr/>
        </p:nvSpPr>
        <p:spPr>
          <a:xfrm>
            <a:off x="960120" y="3749040"/>
            <a:ext cx="3566160" cy="274320"/>
          </a:xfrm>
          <a:prstGeom prst="rect">
            <a:avLst/>
          </a:prstGeom>
          <a:noFill/>
          <a:ln/>
        </p:spPr>
        <p:txBody>
          <a:bodyPr wrap="square" lIns="0" tIns="0" rIns="0" bIns="0"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Audit-Ready Always</a:t>
            </a:r>
            <a:endParaRPr lang="en-US" sz="1300" dirty="0"/>
          </a:p>
        </p:txBody>
      </p:sp>
      <p:sp>
        <p:nvSpPr>
          <p:cNvPr id="18" name="Text 11"/>
          <p:cNvSpPr/>
          <p:nvPr/>
        </p:nvSpPr>
        <p:spPr>
          <a:xfrm>
            <a:off x="960120" y="4069080"/>
            <a:ext cx="3566160" cy="685800"/>
          </a:xfrm>
          <a:prstGeom prst="rect">
            <a:avLst/>
          </a:prstGeom>
          <a:noFill/>
          <a:ln/>
        </p:spPr>
        <p:txBody>
          <a:bodyPr wrap="square" lIns="0" tIns="0" rIns="0" bIns="0" rtlCol="0" anchor="ctr"/>
          <a:lstStyle/>
          <a:p>
            <a:pPr indent="0" marL="0">
              <a:buNone/>
            </a:pPr>
            <a:r>
              <a:rPr lang="en-US" sz="1050" dirty="0">
                <a:solidFill>
                  <a:srgbClr val="636E72"/>
                </a:solidFill>
                <a:latin typeface="Calibri" pitchFamily="34" charset="0"/>
                <a:ea typeface="Calibri" pitchFamily="34" charset="-122"/>
                <a:cs typeface="Calibri" pitchFamily="34" charset="-120"/>
              </a:rPr>
              <a:t>Every transaction has an immutable audit trail — who created it, when, and why. When a CPA or funder asks questions, the answers are already documented.</a:t>
            </a:r>
            <a:endParaRPr lang="en-US" sz="1050" dirty="0"/>
          </a:p>
        </p:txBody>
      </p:sp>
      <p:pic>
        <p:nvPicPr>
          <p:cNvPr id="19" name="Image 5" descr="preencoded.png">    </p:cNvPr>
          <p:cNvPicPr>
            <a:picLocks noChangeAspect="1"/>
          </p:cNvPicPr>
          <p:nvPr/>
        </p:nvPicPr>
        <p:blipFill>
          <a:blip r:embed="rId6"/>
          <a:stretch>
            <a:fillRect/>
          </a:stretch>
        </p:blipFill>
        <p:spPr>
          <a:xfrm>
            <a:off x="4800600" y="3794760"/>
            <a:ext cx="274320" cy="274320"/>
          </a:xfrm>
          <a:prstGeom prst="rect">
            <a:avLst/>
          </a:prstGeom>
        </p:spPr>
      </p:pic>
      <p:sp>
        <p:nvSpPr>
          <p:cNvPr id="20" name="Text 12"/>
          <p:cNvSpPr/>
          <p:nvPr/>
        </p:nvSpPr>
        <p:spPr>
          <a:xfrm>
            <a:off x="5212080" y="3749040"/>
            <a:ext cx="3566160" cy="274320"/>
          </a:xfrm>
          <a:prstGeom prst="rect">
            <a:avLst/>
          </a:prstGeom>
          <a:noFill/>
          <a:ln/>
        </p:spPr>
        <p:txBody>
          <a:bodyPr wrap="square" lIns="0" tIns="0" rIns="0" bIns="0"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Grows With the Mission</a:t>
            </a:r>
            <a:endParaRPr lang="en-US" sz="1300" dirty="0"/>
          </a:p>
        </p:txBody>
      </p:sp>
      <p:sp>
        <p:nvSpPr>
          <p:cNvPr id="21" name="Text 13"/>
          <p:cNvSpPr/>
          <p:nvPr/>
        </p:nvSpPr>
        <p:spPr>
          <a:xfrm>
            <a:off x="5212080" y="4069080"/>
            <a:ext cx="3566160" cy="685800"/>
          </a:xfrm>
          <a:prstGeom prst="rect">
            <a:avLst/>
          </a:prstGeom>
          <a:noFill/>
          <a:ln/>
        </p:spPr>
        <p:txBody>
          <a:bodyPr wrap="square" lIns="0" tIns="0" rIns="0" bIns="0" rtlCol="0" anchor="ctr"/>
          <a:lstStyle/>
          <a:p>
            <a:pPr indent="0" marL="0">
              <a:buNone/>
            </a:pPr>
            <a:r>
              <a:rPr lang="en-US" sz="1050" dirty="0">
                <a:solidFill>
                  <a:srgbClr val="636E72"/>
                </a:solidFill>
                <a:latin typeface="Calibri" pitchFamily="34" charset="0"/>
                <a:ea typeface="Calibri" pitchFamily="34" charset="-122"/>
                <a:cs typeface="Calibri" pitchFamily="34" charset="-120"/>
              </a:rPr>
              <a:t>Designed for the 75 Oliver Street project: CIP tracking, component depreciation, tenant management, security deposit escrow — all built in for when you need them.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4332"/>
          </a:solidFill>
          <a:ln/>
        </p:spPr>
      </p:sp>
      <p:sp>
        <p:nvSpPr>
          <p:cNvPr id="3" name="Text 1"/>
          <p:cNvSpPr/>
          <p:nvPr/>
        </p:nvSpPr>
        <p:spPr>
          <a:xfrm>
            <a:off x="548640" y="274320"/>
            <a:ext cx="7315200" cy="548640"/>
          </a:xfrm>
          <a:prstGeom prst="rect">
            <a:avLst/>
          </a:prstGeom>
          <a:noFill/>
          <a:ln/>
        </p:spPr>
        <p:txBody>
          <a:bodyPr wrap="square" lIns="0" tIns="0" rIns="0" bIns="0" rtlCol="0" anchor="ctr"/>
          <a:lstStyle/>
          <a:p>
            <a:pPr indent="0" marL="0">
              <a:buNone/>
            </a:pPr>
            <a:r>
              <a:rPr lang="en-US" sz="3000" b="1" dirty="0">
                <a:solidFill>
                  <a:srgbClr val="1B4332"/>
                </a:solidFill>
                <a:latin typeface="Georgia" pitchFamily="34" charset="0"/>
                <a:ea typeface="Georgia" pitchFamily="34" charset="-122"/>
                <a:cs typeface="Georgia" pitchFamily="34" charset="-120"/>
              </a:rPr>
              <a:t>How We’ll Build It</a:t>
            </a:r>
            <a:endParaRPr lang="en-US" sz="3000" dirty="0"/>
          </a:p>
        </p:txBody>
      </p:sp>
      <p:sp>
        <p:nvSpPr>
          <p:cNvPr id="4" name="Text 2"/>
          <p:cNvSpPr/>
          <p:nvPr/>
        </p:nvSpPr>
        <p:spPr>
          <a:xfrm>
            <a:off x="548640" y="822960"/>
            <a:ext cx="7772400" cy="365760"/>
          </a:xfrm>
          <a:prstGeom prst="rect">
            <a:avLst/>
          </a:prstGeom>
          <a:noFill/>
          <a:ln/>
        </p:spPr>
        <p:txBody>
          <a:bodyPr wrap="square" lIns="0" tIns="0" rIns="0" bIns="0" rtlCol="0" anchor="ctr"/>
          <a:lstStyle/>
          <a:p>
            <a:pPr indent="0" marL="0">
              <a:buNone/>
            </a:pPr>
            <a:r>
              <a:rPr lang="en-US" sz="1300" dirty="0">
                <a:solidFill>
                  <a:srgbClr val="636E72"/>
                </a:solidFill>
                <a:latin typeface="Calibri" pitchFamily="34" charset="0"/>
                <a:ea typeface="Calibri" pitchFamily="34" charset="-122"/>
                <a:cs typeface="Calibri" pitchFamily="34" charset="-120"/>
              </a:rPr>
              <a:t>18 sequential phases, each producing something testable. You’ll see progress continuously.</a:t>
            </a:r>
            <a:endParaRPr lang="en-US" sz="1300" dirty="0"/>
          </a:p>
        </p:txBody>
      </p:sp>
      <p:sp>
        <p:nvSpPr>
          <p:cNvPr id="5" name="Shape 3"/>
          <p:cNvSpPr/>
          <p:nvPr/>
        </p:nvSpPr>
        <p:spPr>
          <a:xfrm>
            <a:off x="548640" y="1463040"/>
            <a:ext cx="1920240" cy="2468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548640" y="1463040"/>
            <a:ext cx="1920240" cy="594360"/>
          </a:xfrm>
          <a:prstGeom prst="rect">
            <a:avLst/>
          </a:prstGeom>
          <a:solidFill>
            <a:srgbClr val="2D6A4F"/>
          </a:solidFill>
          <a:ln/>
        </p:spPr>
      </p:sp>
      <p:pic>
        <p:nvPicPr>
          <p:cNvPr id="7" name="Image 0" descr="preencoded.png">    </p:cNvPr>
          <p:cNvPicPr>
            <a:picLocks noChangeAspect="1"/>
          </p:cNvPicPr>
          <p:nvPr/>
        </p:nvPicPr>
        <p:blipFill>
          <a:blip r:embed="rId1"/>
          <a:stretch>
            <a:fillRect/>
          </a:stretch>
        </p:blipFill>
        <p:spPr>
          <a:xfrm>
            <a:off x="1280160" y="1527048"/>
            <a:ext cx="411480" cy="411480"/>
          </a:xfrm>
          <a:prstGeom prst="rect">
            <a:avLst/>
          </a:prstGeom>
        </p:spPr>
      </p:pic>
      <p:sp>
        <p:nvSpPr>
          <p:cNvPr id="8" name="Text 5"/>
          <p:cNvSpPr/>
          <p:nvPr/>
        </p:nvSpPr>
        <p:spPr>
          <a:xfrm>
            <a:off x="685800" y="2148840"/>
            <a:ext cx="1645920" cy="274320"/>
          </a:xfrm>
          <a:prstGeom prst="rect">
            <a:avLst/>
          </a:prstGeom>
          <a:noFill/>
          <a:ln/>
        </p:spPr>
        <p:txBody>
          <a:bodyPr wrap="square" lIns="0" tIns="0" rIns="0" bIns="0" rtlCol="0" anchor="ctr"/>
          <a:lstStyle/>
          <a:p>
            <a:pPr algn="ctr" indent="0" marL="0">
              <a:buNone/>
            </a:pPr>
            <a:r>
              <a:rPr lang="en-US" sz="1100" b="1" dirty="0">
                <a:solidFill>
                  <a:srgbClr val="52B788"/>
                </a:solidFill>
                <a:latin typeface="Calibri" pitchFamily="34" charset="0"/>
                <a:ea typeface="Calibri" pitchFamily="34" charset="-122"/>
                <a:cs typeface="Calibri" pitchFamily="34" charset="-120"/>
              </a:rPr>
              <a:t>Phases 1–3</a:t>
            </a:r>
            <a:endParaRPr lang="en-US" sz="1100" dirty="0"/>
          </a:p>
        </p:txBody>
      </p:sp>
      <p:sp>
        <p:nvSpPr>
          <p:cNvPr id="9" name="Text 6"/>
          <p:cNvSpPr/>
          <p:nvPr/>
        </p:nvSpPr>
        <p:spPr>
          <a:xfrm>
            <a:off x="685800" y="2377440"/>
            <a:ext cx="1645920" cy="320040"/>
          </a:xfrm>
          <a:prstGeom prst="rect">
            <a:avLst/>
          </a:prstGeom>
          <a:noFill/>
          <a:ln/>
        </p:spPr>
        <p:txBody>
          <a:bodyPr wrap="square" lIns="0" tIns="0" rIns="0" bIns="0" rtlCol="0" anchor="ctr"/>
          <a:lstStyle/>
          <a:p>
            <a:pPr algn="ctr" indent="0" marL="0">
              <a:buNone/>
            </a:pPr>
            <a:r>
              <a:rPr lang="en-US" sz="1500" b="1" dirty="0">
                <a:solidFill>
                  <a:srgbClr val="2D3436"/>
                </a:solidFill>
                <a:latin typeface="Georgia" pitchFamily="34" charset="0"/>
                <a:ea typeface="Georgia" pitchFamily="34" charset="-122"/>
                <a:cs typeface="Georgia" pitchFamily="34" charset="-120"/>
              </a:rPr>
              <a:t>Foundation</a:t>
            </a:r>
            <a:endParaRPr lang="en-US" sz="1500" dirty="0"/>
          </a:p>
        </p:txBody>
      </p:sp>
      <p:sp>
        <p:nvSpPr>
          <p:cNvPr id="10" name="Text 7"/>
          <p:cNvSpPr/>
          <p:nvPr/>
        </p:nvSpPr>
        <p:spPr>
          <a:xfrm>
            <a:off x="685800" y="2788920"/>
            <a:ext cx="1645920" cy="1005840"/>
          </a:xfrm>
          <a:prstGeom prst="rect">
            <a:avLst/>
          </a:prstGeom>
          <a:noFill/>
          <a:ln/>
        </p:spPr>
        <p:txBody>
          <a:bodyPr wrap="square" lIns="0" tIns="0" rIns="0" bIns="0" rtlCol="0" anchor="ctr"/>
          <a:lstStyle/>
          <a:p>
            <a:pPr algn="ctr" indent="0" marL="0">
              <a:buNone/>
            </a:pPr>
            <a:r>
              <a:rPr lang="en-US" sz="1000" dirty="0">
                <a:solidFill>
                  <a:srgbClr val="636E72"/>
                </a:solidFill>
                <a:latin typeface="Calibri" pitchFamily="34" charset="0"/>
                <a:ea typeface="Calibri" pitchFamily="34" charset="-122"/>
                <a:cs typeface="Calibri" pitchFamily="34" charset="-120"/>
              </a:rPr>
              <a:t>Project setup, database</a:t>
            </a:r>
            <a:endParaRPr lang="en-US" sz="1000" dirty="0"/>
          </a:p>
          <a:p>
            <a:pPr algn="ctr" indent="0" marL="0">
              <a:buNone/>
            </a:pPr>
            <a:r>
              <a:rPr lang="en-US" sz="1000" dirty="0">
                <a:solidFill>
                  <a:srgbClr val="636E72"/>
                </a:solidFill>
                <a:latin typeface="Calibri" pitchFamily="34" charset="0"/>
                <a:ea typeface="Calibri" pitchFamily="34" charset="-122"/>
                <a:cs typeface="Calibri" pitchFamily="34" charset="-120"/>
              </a:rPr>
              <a:t>schema, GL engine, audit</a:t>
            </a:r>
            <a:endParaRPr lang="en-US" sz="1000" dirty="0"/>
          </a:p>
          <a:p>
            <a:pPr algn="ctr" indent="0" marL="0">
              <a:buNone/>
            </a:pPr>
            <a:r>
              <a:rPr lang="en-US" sz="1000" dirty="0">
                <a:solidFill>
                  <a:srgbClr val="636E72"/>
                </a:solidFill>
                <a:latin typeface="Calibri" pitchFamily="34" charset="0"/>
                <a:ea typeface="Calibri" pitchFamily="34" charset="-122"/>
                <a:cs typeface="Calibri" pitchFamily="34" charset="-120"/>
              </a:rPr>
              <a:t>logging, chart of accounts</a:t>
            </a:r>
            <a:endParaRPr lang="en-US" sz="1000" dirty="0"/>
          </a:p>
        </p:txBody>
      </p:sp>
      <p:pic>
        <p:nvPicPr>
          <p:cNvPr id="11" name="Image 1" descr="preencoded.png">    </p:cNvPr>
          <p:cNvPicPr>
            <a:picLocks noChangeAspect="1"/>
          </p:cNvPicPr>
          <p:nvPr/>
        </p:nvPicPr>
        <p:blipFill>
          <a:blip r:embed="rId2"/>
          <a:stretch>
            <a:fillRect/>
          </a:stretch>
        </p:blipFill>
        <p:spPr>
          <a:xfrm>
            <a:off x="2487168" y="2423160"/>
            <a:ext cx="256032" cy="256032"/>
          </a:xfrm>
          <a:prstGeom prst="rect">
            <a:avLst/>
          </a:prstGeom>
        </p:spPr>
      </p:pic>
      <p:sp>
        <p:nvSpPr>
          <p:cNvPr id="12" name="Shape 8"/>
          <p:cNvSpPr/>
          <p:nvPr/>
        </p:nvSpPr>
        <p:spPr>
          <a:xfrm>
            <a:off x="2697480" y="1463040"/>
            <a:ext cx="1920240" cy="2468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3" name="Shape 9"/>
          <p:cNvSpPr/>
          <p:nvPr/>
        </p:nvSpPr>
        <p:spPr>
          <a:xfrm>
            <a:off x="2697480" y="1463040"/>
            <a:ext cx="1920240" cy="594360"/>
          </a:xfrm>
          <a:prstGeom prst="rect">
            <a:avLst/>
          </a:prstGeom>
          <a:solidFill>
            <a:srgbClr val="52B788"/>
          </a:solidFill>
          <a:ln/>
        </p:spPr>
      </p:sp>
      <p:pic>
        <p:nvPicPr>
          <p:cNvPr id="14" name="Image 2" descr="preencoded.png">    </p:cNvPr>
          <p:cNvPicPr>
            <a:picLocks noChangeAspect="1"/>
          </p:cNvPicPr>
          <p:nvPr/>
        </p:nvPicPr>
        <p:blipFill>
          <a:blip r:embed="rId3"/>
          <a:stretch>
            <a:fillRect/>
          </a:stretch>
        </p:blipFill>
        <p:spPr>
          <a:xfrm>
            <a:off x="3429000" y="1527048"/>
            <a:ext cx="411480" cy="411480"/>
          </a:xfrm>
          <a:prstGeom prst="rect">
            <a:avLst/>
          </a:prstGeom>
        </p:spPr>
      </p:pic>
      <p:sp>
        <p:nvSpPr>
          <p:cNvPr id="15" name="Text 10"/>
          <p:cNvSpPr/>
          <p:nvPr/>
        </p:nvSpPr>
        <p:spPr>
          <a:xfrm>
            <a:off x="2834640" y="2148840"/>
            <a:ext cx="1645920" cy="274320"/>
          </a:xfrm>
          <a:prstGeom prst="rect">
            <a:avLst/>
          </a:prstGeom>
          <a:noFill/>
          <a:ln/>
        </p:spPr>
        <p:txBody>
          <a:bodyPr wrap="square" lIns="0" tIns="0" rIns="0" bIns="0" rtlCol="0" anchor="ctr"/>
          <a:lstStyle/>
          <a:p>
            <a:pPr algn="ctr" indent="0" marL="0">
              <a:buNone/>
            </a:pPr>
            <a:r>
              <a:rPr lang="en-US" sz="1100" b="1" dirty="0">
                <a:solidFill>
                  <a:srgbClr val="52B788"/>
                </a:solidFill>
                <a:latin typeface="Calibri" pitchFamily="34" charset="0"/>
                <a:ea typeface="Calibri" pitchFamily="34" charset="-122"/>
                <a:cs typeface="Calibri" pitchFamily="34" charset="-120"/>
              </a:rPr>
              <a:t>Phases 4–10</a:t>
            </a:r>
            <a:endParaRPr lang="en-US" sz="1100" dirty="0"/>
          </a:p>
        </p:txBody>
      </p:sp>
      <p:sp>
        <p:nvSpPr>
          <p:cNvPr id="16" name="Text 11"/>
          <p:cNvSpPr/>
          <p:nvPr/>
        </p:nvSpPr>
        <p:spPr>
          <a:xfrm>
            <a:off x="2834640" y="2377440"/>
            <a:ext cx="1645920" cy="320040"/>
          </a:xfrm>
          <a:prstGeom prst="rect">
            <a:avLst/>
          </a:prstGeom>
          <a:noFill/>
          <a:ln/>
        </p:spPr>
        <p:txBody>
          <a:bodyPr wrap="square" lIns="0" tIns="0" rIns="0" bIns="0" rtlCol="0" anchor="ctr"/>
          <a:lstStyle/>
          <a:p>
            <a:pPr algn="ctr" indent="0" marL="0">
              <a:buNone/>
            </a:pPr>
            <a:r>
              <a:rPr lang="en-US" sz="1500" b="1" dirty="0">
                <a:solidFill>
                  <a:srgbClr val="2D3436"/>
                </a:solidFill>
                <a:latin typeface="Georgia" pitchFamily="34" charset="0"/>
                <a:ea typeface="Georgia" pitchFamily="34" charset="-122"/>
                <a:cs typeface="Georgia" pitchFamily="34" charset="-120"/>
              </a:rPr>
              <a:t>Core Features</a:t>
            </a:r>
            <a:endParaRPr lang="en-US" sz="1500" dirty="0"/>
          </a:p>
        </p:txBody>
      </p:sp>
      <p:sp>
        <p:nvSpPr>
          <p:cNvPr id="17" name="Text 12"/>
          <p:cNvSpPr/>
          <p:nvPr/>
        </p:nvSpPr>
        <p:spPr>
          <a:xfrm>
            <a:off x="2834640" y="2788920"/>
            <a:ext cx="1645920" cy="1005840"/>
          </a:xfrm>
          <a:prstGeom prst="rect">
            <a:avLst/>
          </a:prstGeom>
          <a:noFill/>
          <a:ln/>
        </p:spPr>
        <p:txBody>
          <a:bodyPr wrap="square" lIns="0" tIns="0" rIns="0" bIns="0" rtlCol="0" anchor="ctr"/>
          <a:lstStyle/>
          <a:p>
            <a:pPr algn="ctr" indent="0" marL="0">
              <a:buNone/>
            </a:pPr>
            <a:r>
              <a:rPr lang="en-US" sz="1000" dirty="0">
                <a:solidFill>
                  <a:srgbClr val="636E72"/>
                </a:solidFill>
                <a:latin typeface="Calibri" pitchFamily="34" charset="0"/>
                <a:ea typeface="Calibri" pitchFamily="34" charset="-122"/>
                <a:cs typeface="Calibri" pitchFamily="34" charset="-120"/>
              </a:rPr>
              <a:t>Journal entries, vendors,</a:t>
            </a:r>
            <a:endParaRPr lang="en-US" sz="1000" dirty="0"/>
          </a:p>
          <a:p>
            <a:pPr algn="ctr" indent="0" marL="0">
              <a:buNone/>
            </a:pPr>
            <a:r>
              <a:rPr lang="en-US" sz="1000" dirty="0">
                <a:solidFill>
                  <a:srgbClr val="636E72"/>
                </a:solidFill>
                <a:latin typeface="Calibri" pitchFamily="34" charset="0"/>
                <a:ea typeface="Calibri" pitchFamily="34" charset="-122"/>
                <a:cs typeface="Calibri" pitchFamily="34" charset="-120"/>
              </a:rPr>
              <a:t>revenue, expenses, Ramp</a:t>
            </a:r>
            <a:endParaRPr lang="en-US" sz="1000" dirty="0"/>
          </a:p>
          <a:p>
            <a:pPr algn="ctr" indent="0" marL="0">
              <a:buNone/>
            </a:pPr>
            <a:r>
              <a:rPr lang="en-US" sz="1000" dirty="0">
                <a:solidFill>
                  <a:srgbClr val="636E72"/>
                </a:solidFill>
                <a:latin typeface="Calibri" pitchFamily="34" charset="0"/>
                <a:ea typeface="Calibri" pitchFamily="34" charset="-122"/>
                <a:cs typeface="Calibri" pitchFamily="34" charset="-120"/>
              </a:rPr>
              <a:t>sync, payroll engine</a:t>
            </a:r>
            <a:endParaRPr lang="en-US" sz="1000" dirty="0"/>
          </a:p>
        </p:txBody>
      </p:sp>
      <p:pic>
        <p:nvPicPr>
          <p:cNvPr id="18" name="Image 3" descr="preencoded.png">    </p:cNvPr>
          <p:cNvPicPr>
            <a:picLocks noChangeAspect="1"/>
          </p:cNvPicPr>
          <p:nvPr/>
        </p:nvPicPr>
        <p:blipFill>
          <a:blip r:embed="rId4"/>
          <a:stretch>
            <a:fillRect/>
          </a:stretch>
        </p:blipFill>
        <p:spPr>
          <a:xfrm>
            <a:off x="4636008" y="2423160"/>
            <a:ext cx="256032" cy="256032"/>
          </a:xfrm>
          <a:prstGeom prst="rect">
            <a:avLst/>
          </a:prstGeom>
        </p:spPr>
      </p:pic>
      <p:sp>
        <p:nvSpPr>
          <p:cNvPr id="19" name="Shape 13"/>
          <p:cNvSpPr/>
          <p:nvPr/>
        </p:nvSpPr>
        <p:spPr>
          <a:xfrm>
            <a:off x="4846320" y="1463040"/>
            <a:ext cx="1920240" cy="2468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0" name="Shape 14"/>
          <p:cNvSpPr/>
          <p:nvPr/>
        </p:nvSpPr>
        <p:spPr>
          <a:xfrm>
            <a:off x="4846320" y="1463040"/>
            <a:ext cx="1920240" cy="594360"/>
          </a:xfrm>
          <a:prstGeom prst="rect">
            <a:avLst/>
          </a:prstGeom>
          <a:solidFill>
            <a:srgbClr val="2D6A4F"/>
          </a:solidFill>
          <a:ln/>
        </p:spPr>
      </p:sp>
      <p:pic>
        <p:nvPicPr>
          <p:cNvPr id="21" name="Image 4" descr="preencoded.png">    </p:cNvPr>
          <p:cNvPicPr>
            <a:picLocks noChangeAspect="1"/>
          </p:cNvPicPr>
          <p:nvPr/>
        </p:nvPicPr>
        <p:blipFill>
          <a:blip r:embed="rId5"/>
          <a:stretch>
            <a:fillRect/>
          </a:stretch>
        </p:blipFill>
        <p:spPr>
          <a:xfrm>
            <a:off x="5577840" y="1527048"/>
            <a:ext cx="411480" cy="411480"/>
          </a:xfrm>
          <a:prstGeom prst="rect">
            <a:avLst/>
          </a:prstGeom>
        </p:spPr>
      </p:pic>
      <p:sp>
        <p:nvSpPr>
          <p:cNvPr id="22" name="Text 15"/>
          <p:cNvSpPr/>
          <p:nvPr/>
        </p:nvSpPr>
        <p:spPr>
          <a:xfrm>
            <a:off x="4983480" y="2148840"/>
            <a:ext cx="1645920" cy="274320"/>
          </a:xfrm>
          <a:prstGeom prst="rect">
            <a:avLst/>
          </a:prstGeom>
          <a:noFill/>
          <a:ln/>
        </p:spPr>
        <p:txBody>
          <a:bodyPr wrap="square" lIns="0" tIns="0" rIns="0" bIns="0" rtlCol="0" anchor="ctr"/>
          <a:lstStyle/>
          <a:p>
            <a:pPr algn="ctr" indent="0" marL="0">
              <a:buNone/>
            </a:pPr>
            <a:r>
              <a:rPr lang="en-US" sz="1100" b="1" dirty="0">
                <a:solidFill>
                  <a:srgbClr val="52B788"/>
                </a:solidFill>
                <a:latin typeface="Calibri" pitchFamily="34" charset="0"/>
                <a:ea typeface="Calibri" pitchFamily="34" charset="-122"/>
                <a:cs typeface="Calibri" pitchFamily="34" charset="-120"/>
              </a:rPr>
              <a:t>Phases 11–15</a:t>
            </a:r>
            <a:endParaRPr lang="en-US" sz="1100" dirty="0"/>
          </a:p>
        </p:txBody>
      </p:sp>
      <p:sp>
        <p:nvSpPr>
          <p:cNvPr id="23" name="Text 16"/>
          <p:cNvSpPr/>
          <p:nvPr/>
        </p:nvSpPr>
        <p:spPr>
          <a:xfrm>
            <a:off x="4983480" y="2377440"/>
            <a:ext cx="1645920" cy="320040"/>
          </a:xfrm>
          <a:prstGeom prst="rect">
            <a:avLst/>
          </a:prstGeom>
          <a:noFill/>
          <a:ln/>
        </p:spPr>
        <p:txBody>
          <a:bodyPr wrap="square" lIns="0" tIns="0" rIns="0" bIns="0" rtlCol="0" anchor="ctr"/>
          <a:lstStyle/>
          <a:p>
            <a:pPr algn="ctr" indent="0" marL="0">
              <a:buNone/>
            </a:pPr>
            <a:r>
              <a:rPr lang="en-US" sz="1500" b="1" dirty="0">
                <a:solidFill>
                  <a:srgbClr val="2D3436"/>
                </a:solidFill>
                <a:latin typeface="Georgia" pitchFamily="34" charset="0"/>
                <a:ea typeface="Georgia" pitchFamily="34" charset="-122"/>
                <a:cs typeface="Georgia" pitchFamily="34" charset="-120"/>
              </a:rPr>
              <a:t>Intelligence</a:t>
            </a:r>
            <a:endParaRPr lang="en-US" sz="1500" dirty="0"/>
          </a:p>
        </p:txBody>
      </p:sp>
      <p:sp>
        <p:nvSpPr>
          <p:cNvPr id="24" name="Text 17"/>
          <p:cNvSpPr/>
          <p:nvPr/>
        </p:nvSpPr>
        <p:spPr>
          <a:xfrm>
            <a:off x="4983480" y="2788920"/>
            <a:ext cx="1645920" cy="1005840"/>
          </a:xfrm>
          <a:prstGeom prst="rect">
            <a:avLst/>
          </a:prstGeom>
          <a:noFill/>
          <a:ln/>
        </p:spPr>
        <p:txBody>
          <a:bodyPr wrap="square" lIns="0" tIns="0" rIns="0" bIns="0" rtlCol="0" anchor="ctr"/>
          <a:lstStyle/>
          <a:p>
            <a:pPr algn="ctr" indent="0" marL="0">
              <a:buNone/>
            </a:pPr>
            <a:r>
              <a:rPr lang="en-US" sz="1000" dirty="0">
                <a:solidFill>
                  <a:srgbClr val="636E72"/>
                </a:solidFill>
                <a:latin typeface="Calibri" pitchFamily="34" charset="0"/>
                <a:ea typeface="Calibri" pitchFamily="34" charset="-122"/>
                <a:cs typeface="Calibri" pitchFamily="34" charset="-120"/>
              </a:rPr>
              <a:t>Bank reconciliation,</a:t>
            </a:r>
            <a:endParaRPr lang="en-US" sz="1000" dirty="0"/>
          </a:p>
          <a:p>
            <a:pPr algn="ctr" indent="0" marL="0">
              <a:buNone/>
            </a:pPr>
            <a:r>
              <a:rPr lang="en-US" sz="1000" dirty="0">
                <a:solidFill>
                  <a:srgbClr val="636E72"/>
                </a:solidFill>
                <a:latin typeface="Calibri" pitchFamily="34" charset="0"/>
                <a:ea typeface="Calibri" pitchFamily="34" charset="-122"/>
                <a:cs typeface="Calibri" pitchFamily="34" charset="-120"/>
              </a:rPr>
              <a:t>reporting suite, budgets,</a:t>
            </a:r>
            <a:endParaRPr lang="en-US" sz="1000" dirty="0"/>
          </a:p>
          <a:p>
            <a:pPr algn="ctr" indent="0" marL="0">
              <a:buNone/>
            </a:pPr>
            <a:r>
              <a:rPr lang="en-US" sz="1000" dirty="0">
                <a:solidFill>
                  <a:srgbClr val="636E72"/>
                </a:solidFill>
                <a:latin typeface="Calibri" pitchFamily="34" charset="0"/>
                <a:ea typeface="Calibri" pitchFamily="34" charset="-122"/>
                <a:cs typeface="Calibri" pitchFamily="34" charset="-120"/>
              </a:rPr>
              <a:t>compliance, AI copilot</a:t>
            </a:r>
            <a:endParaRPr lang="en-US" sz="1000" dirty="0"/>
          </a:p>
        </p:txBody>
      </p:sp>
      <p:pic>
        <p:nvPicPr>
          <p:cNvPr id="25" name="Image 5" descr="preencoded.png">    </p:cNvPr>
          <p:cNvPicPr>
            <a:picLocks noChangeAspect="1"/>
          </p:cNvPicPr>
          <p:nvPr/>
        </p:nvPicPr>
        <p:blipFill>
          <a:blip r:embed="rId6"/>
          <a:stretch>
            <a:fillRect/>
          </a:stretch>
        </p:blipFill>
        <p:spPr>
          <a:xfrm>
            <a:off x="6784848" y="2423160"/>
            <a:ext cx="256032" cy="256032"/>
          </a:xfrm>
          <a:prstGeom prst="rect">
            <a:avLst/>
          </a:prstGeom>
        </p:spPr>
      </p:pic>
      <p:sp>
        <p:nvSpPr>
          <p:cNvPr id="26" name="Shape 18"/>
          <p:cNvSpPr/>
          <p:nvPr/>
        </p:nvSpPr>
        <p:spPr>
          <a:xfrm>
            <a:off x="6995160" y="1463040"/>
            <a:ext cx="1920240" cy="2468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7" name="Shape 19"/>
          <p:cNvSpPr/>
          <p:nvPr/>
        </p:nvSpPr>
        <p:spPr>
          <a:xfrm>
            <a:off x="6995160" y="1463040"/>
            <a:ext cx="1920240" cy="594360"/>
          </a:xfrm>
          <a:prstGeom prst="rect">
            <a:avLst/>
          </a:prstGeom>
          <a:solidFill>
            <a:srgbClr val="1B4332"/>
          </a:solidFill>
          <a:ln/>
        </p:spPr>
      </p:sp>
      <p:pic>
        <p:nvPicPr>
          <p:cNvPr id="28" name="Image 6" descr="preencoded.png">    </p:cNvPr>
          <p:cNvPicPr>
            <a:picLocks noChangeAspect="1"/>
          </p:cNvPicPr>
          <p:nvPr/>
        </p:nvPicPr>
        <p:blipFill>
          <a:blip r:embed="rId7"/>
          <a:stretch>
            <a:fillRect/>
          </a:stretch>
        </p:blipFill>
        <p:spPr>
          <a:xfrm>
            <a:off x="7726680" y="1527048"/>
            <a:ext cx="411480" cy="411480"/>
          </a:xfrm>
          <a:prstGeom prst="rect">
            <a:avLst/>
          </a:prstGeom>
        </p:spPr>
      </p:pic>
      <p:sp>
        <p:nvSpPr>
          <p:cNvPr id="29" name="Text 20"/>
          <p:cNvSpPr/>
          <p:nvPr/>
        </p:nvSpPr>
        <p:spPr>
          <a:xfrm>
            <a:off x="7132320" y="2148840"/>
            <a:ext cx="1645920" cy="274320"/>
          </a:xfrm>
          <a:prstGeom prst="rect">
            <a:avLst/>
          </a:prstGeom>
          <a:noFill/>
          <a:ln/>
        </p:spPr>
        <p:txBody>
          <a:bodyPr wrap="square" lIns="0" tIns="0" rIns="0" bIns="0" rtlCol="0" anchor="ctr"/>
          <a:lstStyle/>
          <a:p>
            <a:pPr algn="ctr" indent="0" marL="0">
              <a:buNone/>
            </a:pPr>
            <a:r>
              <a:rPr lang="en-US" sz="1100" b="1" dirty="0">
                <a:solidFill>
                  <a:srgbClr val="52B788"/>
                </a:solidFill>
                <a:latin typeface="Calibri" pitchFamily="34" charset="0"/>
                <a:ea typeface="Calibri" pitchFamily="34" charset="-122"/>
                <a:cs typeface="Calibri" pitchFamily="34" charset="-120"/>
              </a:rPr>
              <a:t>Phases 16–18</a:t>
            </a:r>
            <a:endParaRPr lang="en-US" sz="1100" dirty="0"/>
          </a:p>
        </p:txBody>
      </p:sp>
      <p:sp>
        <p:nvSpPr>
          <p:cNvPr id="30" name="Text 21"/>
          <p:cNvSpPr/>
          <p:nvPr/>
        </p:nvSpPr>
        <p:spPr>
          <a:xfrm>
            <a:off x="7132320" y="2377440"/>
            <a:ext cx="1645920" cy="320040"/>
          </a:xfrm>
          <a:prstGeom prst="rect">
            <a:avLst/>
          </a:prstGeom>
          <a:noFill/>
          <a:ln/>
        </p:spPr>
        <p:txBody>
          <a:bodyPr wrap="square" lIns="0" tIns="0" rIns="0" bIns="0" rtlCol="0" anchor="ctr"/>
          <a:lstStyle/>
          <a:p>
            <a:pPr algn="ctr" indent="0" marL="0">
              <a:buNone/>
            </a:pPr>
            <a:r>
              <a:rPr lang="en-US" sz="1500" b="1" dirty="0">
                <a:solidFill>
                  <a:srgbClr val="2D3436"/>
                </a:solidFill>
                <a:latin typeface="Georgia" pitchFamily="34" charset="0"/>
                <a:ea typeface="Georgia" pitchFamily="34" charset="-122"/>
                <a:cs typeface="Georgia" pitchFamily="34" charset="-120"/>
              </a:rPr>
              <a:t>Launch</a:t>
            </a:r>
            <a:endParaRPr lang="en-US" sz="1500" dirty="0"/>
          </a:p>
        </p:txBody>
      </p:sp>
      <p:sp>
        <p:nvSpPr>
          <p:cNvPr id="31" name="Text 22"/>
          <p:cNvSpPr/>
          <p:nvPr/>
        </p:nvSpPr>
        <p:spPr>
          <a:xfrm>
            <a:off x="7132320" y="2788920"/>
            <a:ext cx="1645920" cy="1005840"/>
          </a:xfrm>
          <a:prstGeom prst="rect">
            <a:avLst/>
          </a:prstGeom>
          <a:noFill/>
          <a:ln/>
        </p:spPr>
        <p:txBody>
          <a:bodyPr wrap="square" lIns="0" tIns="0" rIns="0" bIns="0" rtlCol="0" anchor="ctr"/>
          <a:lstStyle/>
          <a:p>
            <a:pPr algn="ctr" indent="0" marL="0">
              <a:buNone/>
            </a:pPr>
            <a:r>
              <a:rPr lang="en-US" sz="1000" dirty="0">
                <a:solidFill>
                  <a:srgbClr val="636E72"/>
                </a:solidFill>
                <a:latin typeface="Calibri" pitchFamily="34" charset="0"/>
                <a:ea typeface="Calibri" pitchFamily="34" charset="-122"/>
                <a:cs typeface="Calibri" pitchFamily="34" charset="-120"/>
              </a:rPr>
              <a:t>QBO data migration,</a:t>
            </a:r>
            <a:endParaRPr lang="en-US" sz="1000" dirty="0"/>
          </a:p>
          <a:p>
            <a:pPr algn="ctr" indent="0" marL="0">
              <a:buNone/>
            </a:pPr>
            <a:r>
              <a:rPr lang="en-US" sz="1000" dirty="0">
                <a:solidFill>
                  <a:srgbClr val="636E72"/>
                </a:solidFill>
                <a:latin typeface="Calibri" pitchFamily="34" charset="0"/>
                <a:ea typeface="Calibri" pitchFamily="34" charset="-122"/>
                <a:cs typeface="Calibri" pitchFamily="34" charset="-120"/>
              </a:rPr>
              <a:t>fixed assets &amp; CIP,</a:t>
            </a:r>
            <a:endParaRPr lang="en-US" sz="1000" dirty="0"/>
          </a:p>
          <a:p>
            <a:pPr algn="ctr" indent="0" marL="0">
              <a:buNone/>
            </a:pPr>
            <a:r>
              <a:rPr lang="en-US" sz="1000" dirty="0">
                <a:solidFill>
                  <a:srgbClr val="636E72"/>
                </a:solidFill>
                <a:latin typeface="Calibri" pitchFamily="34" charset="0"/>
                <a:ea typeface="Calibri" pitchFamily="34" charset="-122"/>
                <a:cs typeface="Calibri" pitchFamily="34" charset="-120"/>
              </a:rPr>
              <a:t>deployment hardening</a:t>
            </a:r>
            <a:endParaRPr lang="en-US" sz="1000" dirty="0"/>
          </a:p>
        </p:txBody>
      </p:sp>
      <p:sp>
        <p:nvSpPr>
          <p:cNvPr id="32" name="Shape 23"/>
          <p:cNvSpPr/>
          <p:nvPr/>
        </p:nvSpPr>
        <p:spPr>
          <a:xfrm>
            <a:off x="548640" y="4160520"/>
            <a:ext cx="8046720" cy="594360"/>
          </a:xfrm>
          <a:prstGeom prst="rect">
            <a:avLst/>
          </a:prstGeom>
          <a:solidFill>
            <a:srgbClr val="D8F3DC"/>
          </a:solidFill>
          <a:ln/>
        </p:spPr>
      </p:sp>
      <p:sp>
        <p:nvSpPr>
          <p:cNvPr id="33" name="Text 24"/>
          <p:cNvSpPr/>
          <p:nvPr/>
        </p:nvSpPr>
        <p:spPr>
          <a:xfrm>
            <a:off x="777240" y="4206240"/>
            <a:ext cx="7589520" cy="502920"/>
          </a:xfrm>
          <a:prstGeom prst="rect">
            <a:avLst/>
          </a:prstGeom>
          <a:noFill/>
          <a:ln/>
        </p:spPr>
        <p:txBody>
          <a:bodyPr wrap="square" lIns="0" tIns="0" rIns="0" bIns="0" rtlCol="0" anchor="ctr"/>
          <a:lstStyle/>
          <a:p>
            <a:pPr indent="0" marL="0">
              <a:buNone/>
            </a:pPr>
            <a:r>
              <a:rPr lang="en-US" sz="1050" b="1" dirty="0">
                <a:solidFill>
                  <a:srgbClr val="1B4332"/>
                </a:solidFill>
                <a:latin typeface="Calibri" pitchFamily="34" charset="0"/>
                <a:ea typeface="Calibri" pitchFamily="34" charset="-122"/>
                <a:cs typeface="Calibri" pitchFamily="34" charset="-120"/>
              </a:rPr>
              <a:t>Built by Jeff + Claude Code  </a:t>
            </a:r>
            <a:pPr indent="0" marL="0">
              <a:buNone/>
            </a:pPr>
            <a:r>
              <a:rPr lang="en-US" sz="1050" dirty="0">
                <a:solidFill>
                  <a:srgbClr val="2D3436"/>
                </a:solidFill>
                <a:latin typeface="Calibri" pitchFamily="34" charset="0"/>
                <a:ea typeface="Calibri" pitchFamily="34" charset="-122"/>
                <a:cs typeface="Calibri" pitchFamily="34" charset="-120"/>
              </a:rPr>
              <a:t>—  The same AI-assisted approach used to build our timesheets and expense reports apps. The entire system fits our existing technology stack (Next.js, Vercel, Neon Postgres) and requires zero new infrastructure costs beyond what we already pay.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p:bgPr>
    </p:bg>
    <p:spTree>
      <p:nvGrpSpPr>
        <p:cNvPr id="1" name=""/>
        <p:cNvGrpSpPr/>
        <p:nvPr/>
      </p:nvGrpSpPr>
      <p:grpSpPr>
        <a:xfrm>
          <a:off x="0" y="0"/>
          <a:ext cx="0" cy="0"/>
          <a:chOff x="0" y="0"/>
          <a:chExt cx="0" cy="0"/>
        </a:xfrm>
      </p:grpSpPr>
      <p:sp>
        <p:nvSpPr>
          <p:cNvPr id="2" name="Text 0"/>
          <p:cNvSpPr/>
          <p:nvPr/>
        </p:nvSpPr>
        <p:spPr>
          <a:xfrm>
            <a:off x="731520" y="2743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Everything Connected</a:t>
            </a:r>
            <a:endParaRPr lang="en-US" sz="2800" dirty="0"/>
          </a:p>
        </p:txBody>
      </p:sp>
      <p:sp>
        <p:nvSpPr>
          <p:cNvPr id="3" name="Text 1"/>
          <p:cNvSpPr/>
          <p:nvPr/>
        </p:nvSpPr>
        <p:spPr>
          <a:xfrm>
            <a:off x="731520" y="777240"/>
            <a:ext cx="7315200" cy="365760"/>
          </a:xfrm>
          <a:prstGeom prst="rect">
            <a:avLst/>
          </a:prstGeom>
          <a:noFill/>
          <a:ln/>
        </p:spPr>
        <p:txBody>
          <a:bodyPr wrap="square" lIns="0" tIns="0" rIns="0" bIns="0" rtlCol="0" anchor="ctr"/>
          <a:lstStyle/>
          <a:p>
            <a:pPr indent="0" marL="0">
              <a:buNone/>
            </a:pPr>
            <a:r>
              <a:rPr lang="en-US" sz="1300" dirty="0">
                <a:solidFill>
                  <a:srgbClr val="95D5B2"/>
                </a:solidFill>
                <a:latin typeface="Calibri" pitchFamily="34" charset="0"/>
                <a:ea typeface="Calibri" pitchFamily="34" charset="-122"/>
                <a:cs typeface="Calibri" pitchFamily="34" charset="-120"/>
              </a:rPr>
              <a:t>Your financial system sits at the center, pulling data from every source automatically.</a:t>
            </a:r>
            <a:endParaRPr lang="en-US" sz="1300" dirty="0"/>
          </a:p>
        </p:txBody>
      </p:sp>
      <p:sp>
        <p:nvSpPr>
          <p:cNvPr id="4" name="Shape 2"/>
          <p:cNvSpPr/>
          <p:nvPr/>
        </p:nvSpPr>
        <p:spPr>
          <a:xfrm>
            <a:off x="3429000" y="2011680"/>
            <a:ext cx="2286000" cy="2011680"/>
          </a:xfrm>
          <a:prstGeom prst="ellipse">
            <a:avLst/>
          </a:prstGeom>
          <a:solidFill>
            <a:srgbClr val="52B788"/>
          </a:solidFill>
          <a:ln/>
        </p:spPr>
      </p:sp>
      <p:sp>
        <p:nvSpPr>
          <p:cNvPr id="5" name="Text 3"/>
          <p:cNvSpPr/>
          <p:nvPr/>
        </p:nvSpPr>
        <p:spPr>
          <a:xfrm>
            <a:off x="3520440" y="2331720"/>
            <a:ext cx="2103120" cy="12801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Financial</a:t>
            </a:r>
            <a:endParaRPr lang="en-US" sz="1600" dirty="0"/>
          </a:p>
          <a:p>
            <a:pPr algn="ctr" indent="0" marL="0">
              <a:buNone/>
            </a:pPr>
            <a:r>
              <a:rPr lang="en-US" sz="1600" b="1" dirty="0">
                <a:solidFill>
                  <a:srgbClr val="FFFFFF"/>
                </a:solidFill>
                <a:latin typeface="Georgia" pitchFamily="34" charset="0"/>
                <a:ea typeface="Georgia" pitchFamily="34" charset="-122"/>
                <a:cs typeface="Georgia" pitchFamily="34" charset="-120"/>
              </a:rPr>
              <a:t>System</a:t>
            </a:r>
            <a:endParaRPr lang="en-US" sz="1600" dirty="0"/>
          </a:p>
        </p:txBody>
      </p:sp>
      <p:sp>
        <p:nvSpPr>
          <p:cNvPr id="6" name="Shape 4"/>
          <p:cNvSpPr/>
          <p:nvPr/>
        </p:nvSpPr>
        <p:spPr>
          <a:xfrm>
            <a:off x="457200" y="1463040"/>
            <a:ext cx="2286000" cy="868680"/>
          </a:xfrm>
          <a:prstGeom prst="rect">
            <a:avLst/>
          </a:prstGeom>
          <a:solidFill>
            <a:srgbClr val="2D6A4F"/>
          </a:solidFill>
          <a:ln/>
          <a:effectLst>
            <a:outerShdw sx="100000" sy="100000" kx="0" ky="0" algn="bl" rotWithShape="0" blurRad="50800" dist="25400" dir="8100000">
              <a:srgbClr val="000000">
                <a:alpha val="8000"/>
              </a:srgbClr>
            </a:outerShdw>
          </a:effectLst>
        </p:spPr>
      </p:sp>
      <p:pic>
        <p:nvPicPr>
          <p:cNvPr id="7" name="Image 0" descr="preencoded.png">    </p:cNvPr>
          <p:cNvPicPr>
            <a:picLocks noChangeAspect="1"/>
          </p:cNvPicPr>
          <p:nvPr/>
        </p:nvPicPr>
        <p:blipFill>
          <a:blip r:embed="rId1"/>
          <a:stretch>
            <a:fillRect/>
          </a:stretch>
        </p:blipFill>
        <p:spPr>
          <a:xfrm>
            <a:off x="640080" y="1627632"/>
            <a:ext cx="365760" cy="365760"/>
          </a:xfrm>
          <a:prstGeom prst="rect">
            <a:avLst/>
          </a:prstGeom>
        </p:spPr>
      </p:pic>
      <p:sp>
        <p:nvSpPr>
          <p:cNvPr id="8" name="Text 5"/>
          <p:cNvSpPr/>
          <p:nvPr/>
        </p:nvSpPr>
        <p:spPr>
          <a:xfrm>
            <a:off x="1097280" y="1508760"/>
            <a:ext cx="1463040" cy="8229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Renewal</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Timesheets</a:t>
            </a:r>
            <a:endParaRPr lang="en-US" sz="1100" dirty="0"/>
          </a:p>
        </p:txBody>
      </p:sp>
      <p:sp>
        <p:nvSpPr>
          <p:cNvPr id="9" name="Shape 6"/>
          <p:cNvSpPr/>
          <p:nvPr/>
        </p:nvSpPr>
        <p:spPr>
          <a:xfrm>
            <a:off x="457200" y="2926080"/>
            <a:ext cx="2286000" cy="868680"/>
          </a:xfrm>
          <a:prstGeom prst="rect">
            <a:avLst/>
          </a:prstGeom>
          <a:solidFill>
            <a:srgbClr val="2D6A4F"/>
          </a:solidFill>
          <a:ln/>
          <a:effectLst>
            <a:outerShdw sx="100000" sy="100000" kx="0" ky="0" algn="bl" rotWithShape="0" blurRad="50800" dist="25400" dir="8100000">
              <a:srgbClr val="000000">
                <a:alpha val="8000"/>
              </a:srgbClr>
            </a:outerShdw>
          </a:effectLst>
        </p:spPr>
      </p:sp>
      <p:pic>
        <p:nvPicPr>
          <p:cNvPr id="10" name="Image 1" descr="preencoded.png">    </p:cNvPr>
          <p:cNvPicPr>
            <a:picLocks noChangeAspect="1"/>
          </p:cNvPicPr>
          <p:nvPr/>
        </p:nvPicPr>
        <p:blipFill>
          <a:blip r:embed="rId2"/>
          <a:stretch>
            <a:fillRect/>
          </a:stretch>
        </p:blipFill>
        <p:spPr>
          <a:xfrm>
            <a:off x="640080" y="3090672"/>
            <a:ext cx="365760" cy="365760"/>
          </a:xfrm>
          <a:prstGeom prst="rect">
            <a:avLst/>
          </a:prstGeom>
        </p:spPr>
      </p:pic>
      <p:sp>
        <p:nvSpPr>
          <p:cNvPr id="11" name="Text 7"/>
          <p:cNvSpPr/>
          <p:nvPr/>
        </p:nvSpPr>
        <p:spPr>
          <a:xfrm>
            <a:off x="1097280" y="2971800"/>
            <a:ext cx="1463040" cy="8229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Expense</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Reports</a:t>
            </a:r>
            <a:endParaRPr lang="en-US" sz="1100" dirty="0"/>
          </a:p>
        </p:txBody>
      </p:sp>
      <p:sp>
        <p:nvSpPr>
          <p:cNvPr id="12" name="Shape 8"/>
          <p:cNvSpPr/>
          <p:nvPr/>
        </p:nvSpPr>
        <p:spPr>
          <a:xfrm>
            <a:off x="6400800" y="1463040"/>
            <a:ext cx="2286000" cy="868680"/>
          </a:xfrm>
          <a:prstGeom prst="rect">
            <a:avLst/>
          </a:prstGeom>
          <a:solidFill>
            <a:srgbClr val="2D6A4F"/>
          </a:solidFill>
          <a:ln/>
          <a:effectLst>
            <a:outerShdw sx="100000" sy="100000" kx="0" ky="0" algn="bl" rotWithShape="0" blurRad="50800" dist="25400" dir="8100000">
              <a:srgbClr val="000000">
                <a:alpha val="8000"/>
              </a:srgbClr>
            </a:outerShdw>
          </a:effectLst>
        </p:spPr>
      </p:sp>
      <p:pic>
        <p:nvPicPr>
          <p:cNvPr id="13" name="Image 2" descr="preencoded.png">    </p:cNvPr>
          <p:cNvPicPr>
            <a:picLocks noChangeAspect="1"/>
          </p:cNvPicPr>
          <p:nvPr/>
        </p:nvPicPr>
        <p:blipFill>
          <a:blip r:embed="rId3"/>
          <a:stretch>
            <a:fillRect/>
          </a:stretch>
        </p:blipFill>
        <p:spPr>
          <a:xfrm>
            <a:off x="6583680" y="1627632"/>
            <a:ext cx="365760" cy="365760"/>
          </a:xfrm>
          <a:prstGeom prst="rect">
            <a:avLst/>
          </a:prstGeom>
        </p:spPr>
      </p:pic>
      <p:sp>
        <p:nvSpPr>
          <p:cNvPr id="14" name="Text 9"/>
          <p:cNvSpPr/>
          <p:nvPr/>
        </p:nvSpPr>
        <p:spPr>
          <a:xfrm>
            <a:off x="7040880" y="1508760"/>
            <a:ext cx="1463040" cy="8229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UMass Five</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Bank Feeds</a:t>
            </a:r>
            <a:endParaRPr lang="en-US" sz="1100" dirty="0"/>
          </a:p>
        </p:txBody>
      </p:sp>
      <p:sp>
        <p:nvSpPr>
          <p:cNvPr id="15" name="Shape 10"/>
          <p:cNvSpPr/>
          <p:nvPr/>
        </p:nvSpPr>
        <p:spPr>
          <a:xfrm>
            <a:off x="6400800" y="2926080"/>
            <a:ext cx="2286000" cy="868680"/>
          </a:xfrm>
          <a:prstGeom prst="rect">
            <a:avLst/>
          </a:prstGeom>
          <a:solidFill>
            <a:srgbClr val="2D6A4F"/>
          </a:solidFill>
          <a:ln/>
          <a:effectLst>
            <a:outerShdw sx="100000" sy="100000" kx="0" ky="0" algn="bl" rotWithShape="0" blurRad="50800" dist="25400" dir="8100000">
              <a:srgbClr val="000000">
                <a:alpha val="8000"/>
              </a:srgbClr>
            </a:outerShdw>
          </a:effectLst>
        </p:spPr>
      </p:sp>
      <p:pic>
        <p:nvPicPr>
          <p:cNvPr id="16" name="Image 3" descr="preencoded.png">    </p:cNvPr>
          <p:cNvPicPr>
            <a:picLocks noChangeAspect="1"/>
          </p:cNvPicPr>
          <p:nvPr/>
        </p:nvPicPr>
        <p:blipFill>
          <a:blip r:embed="rId4"/>
          <a:stretch>
            <a:fillRect/>
          </a:stretch>
        </p:blipFill>
        <p:spPr>
          <a:xfrm>
            <a:off x="6583680" y="3090672"/>
            <a:ext cx="365760" cy="365760"/>
          </a:xfrm>
          <a:prstGeom prst="rect">
            <a:avLst/>
          </a:prstGeom>
        </p:spPr>
      </p:pic>
      <p:sp>
        <p:nvSpPr>
          <p:cNvPr id="17" name="Text 11"/>
          <p:cNvSpPr/>
          <p:nvPr/>
        </p:nvSpPr>
        <p:spPr>
          <a:xfrm>
            <a:off x="7040880" y="2971800"/>
            <a:ext cx="1463040" cy="8229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Ramp</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Credit Card</a:t>
            </a:r>
            <a:endParaRPr lang="en-US" sz="1100" dirty="0"/>
          </a:p>
        </p:txBody>
      </p:sp>
      <p:sp>
        <p:nvSpPr>
          <p:cNvPr id="18" name="Shape 12"/>
          <p:cNvSpPr/>
          <p:nvPr/>
        </p:nvSpPr>
        <p:spPr>
          <a:xfrm>
            <a:off x="3429000" y="4297680"/>
            <a:ext cx="2286000" cy="640080"/>
          </a:xfrm>
          <a:prstGeom prst="rect">
            <a:avLst/>
          </a:prstGeom>
          <a:solidFill>
            <a:srgbClr val="2D6A4F"/>
          </a:solidFill>
          <a:ln/>
          <a:effectLst>
            <a:outerShdw sx="100000" sy="100000" kx="0" ky="0" algn="bl" rotWithShape="0" blurRad="50800" dist="25400" dir="8100000">
              <a:srgbClr val="000000">
                <a:alpha val="8000"/>
              </a:srgbClr>
            </a:outerShdw>
          </a:effectLst>
        </p:spPr>
      </p:sp>
      <p:pic>
        <p:nvPicPr>
          <p:cNvPr id="19" name="Image 4" descr="preencoded.png">    </p:cNvPr>
          <p:cNvPicPr>
            <a:picLocks noChangeAspect="1"/>
          </p:cNvPicPr>
          <p:nvPr/>
        </p:nvPicPr>
        <p:blipFill>
          <a:blip r:embed="rId5"/>
          <a:stretch>
            <a:fillRect/>
          </a:stretch>
        </p:blipFill>
        <p:spPr>
          <a:xfrm>
            <a:off x="3611880" y="4389120"/>
            <a:ext cx="320040" cy="320040"/>
          </a:xfrm>
          <a:prstGeom prst="rect">
            <a:avLst/>
          </a:prstGeom>
        </p:spPr>
      </p:pic>
      <p:sp>
        <p:nvSpPr>
          <p:cNvPr id="20" name="Text 13"/>
          <p:cNvSpPr/>
          <p:nvPr/>
        </p:nvSpPr>
        <p:spPr>
          <a:xfrm>
            <a:off x="4023360" y="4315968"/>
            <a:ext cx="1554480" cy="5943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App Portal (Auth &amp; People)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2D6A4F">
              <a:alpha val="40000"/>
            </a:srgbClr>
          </a:solidFill>
          <a:ln/>
        </p:spPr>
      </p:sp>
      <p:sp>
        <p:nvSpPr>
          <p:cNvPr id="3" name="Shape 1"/>
          <p:cNvSpPr/>
          <p:nvPr/>
        </p:nvSpPr>
        <p:spPr>
          <a:xfrm>
            <a:off x="6858000" y="2743200"/>
            <a:ext cx="3657600" cy="3657600"/>
          </a:xfrm>
          <a:prstGeom prst="ellipse">
            <a:avLst/>
          </a:prstGeom>
          <a:solidFill>
            <a:srgbClr val="2D6A4F">
              <a:alpha val="40000"/>
            </a:srgbClr>
          </a:solidFill>
          <a:ln/>
        </p:spPr>
      </p:sp>
      <p:sp>
        <p:nvSpPr>
          <p:cNvPr id="4" name="Text 2"/>
          <p:cNvSpPr/>
          <p:nvPr/>
        </p:nvSpPr>
        <p:spPr>
          <a:xfrm>
            <a:off x="731520" y="320040"/>
            <a:ext cx="7315200" cy="59436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What This Means for You</a:t>
            </a:r>
            <a:endParaRPr lang="en-US" sz="3200" dirty="0"/>
          </a:p>
        </p:txBody>
      </p:sp>
      <p:sp>
        <p:nvSpPr>
          <p:cNvPr id="5" name="Text 3"/>
          <p:cNvSpPr/>
          <p:nvPr/>
        </p:nvSpPr>
        <p:spPr>
          <a:xfrm>
            <a:off x="731520" y="1051560"/>
            <a:ext cx="7498080" cy="502920"/>
          </a:xfrm>
          <a:prstGeom prst="rect">
            <a:avLst/>
          </a:prstGeom>
          <a:noFill/>
          <a:ln/>
        </p:spPr>
        <p:txBody>
          <a:bodyPr wrap="square" lIns="0" tIns="0" rIns="0" bIns="0" rtlCol="0" anchor="ctr"/>
          <a:lstStyle/>
          <a:p>
            <a:pPr indent="0" marL="0">
              <a:buNone/>
            </a:pPr>
            <a:r>
              <a:rPr lang="en-US" sz="1400" dirty="0">
                <a:solidFill>
                  <a:srgbClr val="95D5B2"/>
                </a:solidFill>
                <a:latin typeface="Calibri" pitchFamily="34" charset="0"/>
                <a:ea typeface="Calibri" pitchFamily="34" charset="-122"/>
                <a:cs typeface="Calibri" pitchFamily="34" charset="-120"/>
              </a:rPr>
              <a:t>Heather, this system is designed around how you actually work — not how a generic accounting tool thinks you should.</a:t>
            </a:r>
            <a:endParaRPr lang="en-US" sz="1400" dirty="0"/>
          </a:p>
        </p:txBody>
      </p:sp>
      <p:pic>
        <p:nvPicPr>
          <p:cNvPr id="6" name="Image 0" descr="preencoded.png">    </p:cNvPr>
          <p:cNvPicPr>
            <a:picLocks noChangeAspect="1"/>
          </p:cNvPicPr>
          <p:nvPr/>
        </p:nvPicPr>
        <p:blipFill>
          <a:blip r:embed="rId1"/>
          <a:stretch>
            <a:fillRect/>
          </a:stretch>
        </p:blipFill>
        <p:spPr>
          <a:xfrm>
            <a:off x="731520" y="1901952"/>
            <a:ext cx="320040" cy="320040"/>
          </a:xfrm>
          <a:prstGeom prst="rect">
            <a:avLst/>
          </a:prstGeom>
        </p:spPr>
      </p:pic>
      <p:sp>
        <p:nvSpPr>
          <p:cNvPr id="7" name="Text 4"/>
          <p:cNvSpPr/>
          <p:nvPr/>
        </p:nvSpPr>
        <p:spPr>
          <a:xfrm>
            <a:off x="1234440" y="1828800"/>
            <a:ext cx="685800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Less time on bookkeeping, more time on mission. Bank feeds, credit card sync, and expense imports flow in automatically.</a:t>
            </a:r>
            <a:endParaRPr lang="en-US" sz="1300" dirty="0"/>
          </a:p>
        </p:txBody>
      </p:sp>
      <p:pic>
        <p:nvPicPr>
          <p:cNvPr id="8" name="Image 1" descr="preencoded.png">    </p:cNvPr>
          <p:cNvPicPr>
            <a:picLocks noChangeAspect="1"/>
          </p:cNvPicPr>
          <p:nvPr/>
        </p:nvPicPr>
        <p:blipFill>
          <a:blip r:embed="rId2"/>
          <a:stretch>
            <a:fillRect/>
          </a:stretch>
        </p:blipFill>
        <p:spPr>
          <a:xfrm>
            <a:off x="731520" y="2542032"/>
            <a:ext cx="320040" cy="320040"/>
          </a:xfrm>
          <a:prstGeom prst="rect">
            <a:avLst/>
          </a:prstGeom>
        </p:spPr>
      </p:pic>
      <p:sp>
        <p:nvSpPr>
          <p:cNvPr id="9" name="Text 5"/>
          <p:cNvSpPr/>
          <p:nvPr/>
        </p:nvSpPr>
        <p:spPr>
          <a:xfrm>
            <a:off x="1234440" y="2468880"/>
            <a:ext cx="685800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Confidence at board meetings. One-click board packs with the exact statements and projections the board expects.</a:t>
            </a:r>
            <a:endParaRPr lang="en-US" sz="1300" dirty="0"/>
          </a:p>
        </p:txBody>
      </p:sp>
      <p:pic>
        <p:nvPicPr>
          <p:cNvPr id="10" name="Image 2" descr="preencoded.png">    </p:cNvPr>
          <p:cNvPicPr>
            <a:picLocks noChangeAspect="1"/>
          </p:cNvPicPr>
          <p:nvPr/>
        </p:nvPicPr>
        <p:blipFill>
          <a:blip r:embed="rId3"/>
          <a:stretch>
            <a:fillRect/>
          </a:stretch>
        </p:blipFill>
        <p:spPr>
          <a:xfrm>
            <a:off x="731520" y="3182112"/>
            <a:ext cx="320040" cy="320040"/>
          </a:xfrm>
          <a:prstGeom prst="rect">
            <a:avLst/>
          </a:prstGeom>
        </p:spPr>
      </p:pic>
      <p:sp>
        <p:nvSpPr>
          <p:cNvPr id="11" name="Text 6"/>
          <p:cNvSpPr/>
          <p:nvPr/>
        </p:nvSpPr>
        <p:spPr>
          <a:xfrm>
            <a:off x="1234440" y="3108960"/>
            <a:ext cx="685800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Ready for what’s coming. When the 75 Oliver Street closing happens, when grants arrive, when tenants move in — the system is already prepared.</a:t>
            </a:r>
            <a:endParaRPr lang="en-US" sz="1300" dirty="0"/>
          </a:p>
        </p:txBody>
      </p:sp>
      <p:sp>
        <p:nvSpPr>
          <p:cNvPr id="12" name="Shape 7"/>
          <p:cNvSpPr/>
          <p:nvPr/>
        </p:nvSpPr>
        <p:spPr>
          <a:xfrm>
            <a:off x="731520" y="3886200"/>
            <a:ext cx="2286000" cy="36576"/>
          </a:xfrm>
          <a:prstGeom prst="rect">
            <a:avLst/>
          </a:prstGeom>
          <a:solidFill>
            <a:srgbClr val="52B788"/>
          </a:solidFill>
          <a:ln/>
        </p:spPr>
      </p:sp>
      <p:sp>
        <p:nvSpPr>
          <p:cNvPr id="13" name="Text 8"/>
          <p:cNvSpPr/>
          <p:nvPr/>
        </p:nvSpPr>
        <p:spPr>
          <a:xfrm>
            <a:off x="731520" y="4114800"/>
            <a:ext cx="7315200" cy="365760"/>
          </a:xfrm>
          <a:prstGeom prst="rect">
            <a:avLst/>
          </a:prstGeom>
          <a:noFill/>
          <a:ln/>
        </p:spPr>
        <p:txBody>
          <a:bodyPr wrap="square" lIns="0" tIns="0" rIns="0" bIns="0" rtlCol="0" anchor="ctr"/>
          <a:lstStyle/>
          <a:p>
            <a:pPr indent="0" marL="0">
              <a:buNone/>
            </a:pPr>
            <a:r>
              <a:rPr lang="en-US" sz="1500" i="1" dirty="0">
                <a:solidFill>
                  <a:srgbClr val="D4A574"/>
                </a:solidFill>
                <a:latin typeface="Georgia" pitchFamily="34" charset="0"/>
                <a:ea typeface="Georgia" pitchFamily="34" charset="-122"/>
                <a:cs typeface="Georgia" pitchFamily="34" charset="-120"/>
              </a:rPr>
              <a:t>Built only for Renewal Initiatives. Going 10x deeper on what matters.</a:t>
            </a:r>
            <a:endParaRPr lang="en-US" sz="1500" dirty="0"/>
          </a:p>
        </p:txBody>
      </p:sp>
      <p:pic>
        <p:nvPicPr>
          <p:cNvPr id="14" name="Image 3" descr="preencoded.png">    </p:cNvPr>
          <p:cNvPicPr>
            <a:picLocks noChangeAspect="1"/>
          </p:cNvPicPr>
          <p:nvPr/>
        </p:nvPicPr>
        <p:blipFill>
          <a:blip r:embed="rId4"/>
          <a:stretch>
            <a:fillRect/>
          </a:stretch>
        </p:blipFill>
        <p:spPr>
          <a:xfrm>
            <a:off x="731520" y="4572000"/>
            <a:ext cx="274320" cy="274320"/>
          </a:xfrm>
          <a:prstGeom prst="rect">
            <a:avLst/>
          </a:prstGeom>
        </p:spPr>
      </p:pic>
      <p:sp>
        <p:nvSpPr>
          <p:cNvPr id="15" name="Text 9"/>
          <p:cNvSpPr/>
          <p:nvPr/>
        </p:nvSpPr>
        <p:spPr>
          <a:xfrm>
            <a:off x="1097280" y="4572000"/>
            <a:ext cx="3657600" cy="320040"/>
          </a:xfrm>
          <a:prstGeom prst="rect">
            <a:avLst/>
          </a:prstGeom>
          <a:noFill/>
          <a:ln/>
        </p:spPr>
        <p:txBody>
          <a:bodyPr wrap="square" lIns="0" tIns="0" rIns="0" bIns="0" rtlCol="0" anchor="ctr"/>
          <a:lstStyle/>
          <a:p>
            <a:pPr indent="0" marL="0">
              <a:buNone/>
            </a:pPr>
            <a:r>
              <a:rPr lang="en-US" sz="1200" dirty="0">
                <a:solidFill>
                  <a:srgbClr val="95D5B2"/>
                </a:solidFill>
                <a:latin typeface="Calibri" pitchFamily="34" charset="0"/>
                <a:ea typeface="Calibri" pitchFamily="34" charset="-122"/>
                <a:cs typeface="Calibri" pitchFamily="34" charset="-120"/>
              </a:rPr>
              <a:t>Let’s build something great.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Renewal Initiatives — Financial System Briefing</dc:title>
  <dc:subject>PptxGenJS Presentation</dc:subject>
  <dc:creator>Jeff Takle</dc:creator>
  <cp:lastModifiedBy>Jeff Takle</cp:lastModifiedBy>
  <cp:revision>1</cp:revision>
  <dcterms:created xsi:type="dcterms:W3CDTF">2026-02-13T22:50:38Z</dcterms:created>
  <dcterms:modified xsi:type="dcterms:W3CDTF">2026-02-13T22:50:38Z</dcterms:modified>
</cp:coreProperties>
</file>